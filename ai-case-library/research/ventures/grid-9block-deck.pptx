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Панч титула; ниже — одна фраза, кто мы. «В полтора-два раза» — цель вдвое, в модели полтора.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LBNL Queued Up 2026 (61 месяц, 2061 ГВт); DOE USEER 2025 (89%); WSP → POWER 10.2024; WSP → TRC (ENR); B&amp;V вакансия 27.08.2026.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«Вдвое» — цель, не факт. Marengo (YC 2026) заявляет такой результат в соседнем сегменте.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Фреймворк — из корпоративной презентации Океан Тех: мультиагентная архитектура, многоуровневая память и база знаний, системы мониторинга и безопасности.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Первые продажи — субподряд у крупных подрядчиков, затем прямые контракты. HRSD КСА № 103105 — 30% саудизации.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Финмодель: при ×1,2 — убыток (критерий остановки), ×1,5 — маржа 24%, ×2 — 58%. Доля инжиниринга ≈3% CAPEX — MISO. Цена фирмы 0,8–1,2× выручки — допущение. Сверка с паспортом роллапа: SPI/Kantata 2026 — маржа сектора 9,8 → 9,9% при росте доли ИИ-проектов с 19 до 27%; базовая ставка при покупке малых сервисных фирм — минус 6 п.п. (Yale SOM). Поэтому 24% — цель, а порог ×1,5 после пилотов — единственная её проверка.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450 млн $ — оценка (3% от 15 млрд $, доля инжиниринга по MISO); IEA Energy and AI 2025/2026; 445 тыс. $ — цена по американским ставкам за группу на 4000 человек. Паспорт роллапа: малые фирмы стоят 5,4–7,5× EBITDA, двузначный мультипликатор начинается с выручки 75–100 млн $; покупатель-фонд платит 10,75×, стратег — 7,34×.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Консолидаторы уже есть (Trilon — 19 покупок, Qualus — выход по 14,9×); наше отличие — Залив и Индия, куда они не идут, и ИИ как инструмент инженера (модель NV5: бренды и автономия фирм сохраняются). Группа на 20–40 млн $ уходит по 6–8×; двузначный мультипликатор — с выручки 75–100 млн $. Не называть выручку года 5 как «будет».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Факты — из корпоративной презентации Океан Тех (2026). Честный ответ на «вы проектировали подстанции?» — нет; поэтому первый найм — инженер-партнёр с лицензией, а первый шаг — пилоты до покупок.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Потребность по финмодели ~21 млн $ против 30 — остальное запас; сказать самому. Не брать 30 сразу — транши защищают обе стороны.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167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Электричество — новая нефть эпохи ИИ.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Мы строим тех, кто её добывает.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74904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ИИ-платформа для энергетического проектирования, встроенная в работу инженерных компаний, которые мы покупаем: подключение дата-центров и электростанций к сети в полтора-два раза быстрее с тем же числом инженеров.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8920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Персидский залив и Индия · раунд 30 млн $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811512" y="6035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КАКАЯ БОЛЬ СУЩЕСТВУЕТ И ПОЧЕМУ ОНА ВАЖНА СЕЙЧАС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Проблема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Потребность дата-центров в электроэнергии растёт, а подключение новых мощностей тормозит дефицит инженеров, которые рассчитывают сети, готовят чертежи и подписывают проекты.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/ 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5431536" cy="1828800"/>
          </a:xfrm>
          <a:prstGeom prst="roundRect">
            <a:avLst>
              <a:gd name="adj" fmla="val 900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" y="2423160"/>
            <a:ext cx="4791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лет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291840"/>
            <a:ext cx="47914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ждёт подключения к сети новый дата-центр в США. Видеокарты покупают за месяцы, здание строят за два года — а провод ждут пять лет.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08776" y="2148840"/>
            <a:ext cx="5431536" cy="1828800"/>
          </a:xfrm>
          <a:prstGeom prst="roundRect">
            <a:avLst>
              <a:gd name="adj" fmla="val 900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28816" y="2423160"/>
            <a:ext cx="4791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89%</a:t>
            </a:r>
            <a:endParaRPr lang="en-US" sz="4400" dirty="0"/>
          </a:p>
        </p:txBody>
      </p:sp>
      <p:sp>
        <p:nvSpPr>
          <p:cNvPr id="12" name="Text 10"/>
          <p:cNvSpPr txBox="1"/>
          <p:nvPr/>
        </p:nvSpPr>
        <p:spPr>
          <a:xfrm>
            <a:off x="6528816" y="3291840"/>
            <a:ext cx="47914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компаний, которые строят электросети, не могут найти инженеров. Проект по закону подписывает лицензированный инженер — и их нет.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16052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Пять лет — это очередь, проверки сети, оборудование. Мы не сокращаем очередь целиком: мы снимаем один тормоз внутри неё — проект с подписью инженера, без которого ничего не строится, а инженеров на всех не хватает.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029200"/>
            <a:ext cx="10725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Почему сейчас: за инженеров, которые проектируют сети, уже платят миллиарды — WSP купила POWER Engineers с 4000 инженеров за 1,78 млрд $ и ещё одну фирму за 3,3 млрд $. Гиганты только начали нанимать менеджеров по ИИ (Black &amp; Veatch, август 2026). Окно — год-два.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98932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046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Мир строит искусственный интеллект — и упирается в розетку.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КАКОЙ ПРОДУКТ ИЛИ ПОДХОД ЗАКРЫВАЕТ ЭТУ ПРОБЛЕМУ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Решение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ИИ-платформа для энергетического проектирования, встроенная в работу инженерных компаний. ИИ автоматизирует расчёты, чертежи и проверку по нормам, инженер контролирует и подписывает результат.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/ 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3544824" cy="2011680"/>
          </a:xfrm>
          <a:prstGeom prst="roundRect">
            <a:avLst>
              <a:gd name="adj" fmla="val 8182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ЧТО ДЕЛАЕТ ИИ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Считает, чертит, проверяет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154680"/>
            <a:ext cx="29961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Расчёт схемы подключения, чертежи подстанции и линии, проверка пакета по нормам конкретной сетевой компании.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22064" y="2148840"/>
            <a:ext cx="3544824" cy="2011680"/>
          </a:xfrm>
          <a:prstGeom prst="roundRect">
            <a:avLst>
              <a:gd name="adj" fmla="val 8182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96384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ЧТО ДЕЛАЕТ ИНЖЕНЕР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4596384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Решает и подписывает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596384" y="3154680"/>
            <a:ext cx="29961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Правит, принимает решения, ставит подпись, без которой сеть проект не примет. Мы не заменяем инженеров — мы делаем так, чтобы их хватало.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095488" y="2148840"/>
            <a:ext cx="3544824" cy="2011680"/>
          </a:xfrm>
          <a:prstGeom prst="roundRect">
            <a:avLst>
              <a:gd name="adj" fmla="val 8182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69808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ЧТО ПОЛУЧАЕТ КОМПАНИЯ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8369808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Больше проектов тем же штатом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369808" y="3154680"/>
            <a:ext cx="29961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полтора-два раза больше проектов без пропорционального роста штата; клиент получает подключение быстрее.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389120"/>
            <a:ext cx="107259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встраиваем: покупаем небольшую инженерную компанию с лицензией и клиентами и ставим платформу внутрь. Почему покупаем, а не нанимаем: вместе с фирмой приходят клиенты, лицензии и репутация — этого не наймёшь.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48640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D5F7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Покупаем подпись. Ставим ИИ. Повторяем.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5943600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Цель — вдвое, проверяем на первых проектах. В деньгах считаем осторожно: в полтора раза.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 РАБОТЫ, КЛЮЧЕВАЯ ТЕХНОЛОГИЯ И ПОЛЬЗОВАТЕЛЬСКИЙ СЦЕНАРИЙ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Как это работает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Принцип: ИИ делает атомарные задачи, инженер решает и подписывает, сеть принимает проект с первого раза.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/ 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2601468" cy="1874520"/>
          </a:xfrm>
          <a:prstGeom prst="roundRect">
            <a:avLst>
              <a:gd name="adj" fmla="val 878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37744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97480"/>
            <a:ext cx="20528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Заявка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154680"/>
            <a:ext cx="20528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Девелопер дата-центра или электростанции приходит с площадкой и нужной мощностью.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378708" y="2148840"/>
            <a:ext cx="2601468" cy="1874520"/>
          </a:xfrm>
          <a:prstGeom prst="roundRect">
            <a:avLst>
              <a:gd name="adj" fmla="val 878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653028" y="237744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3653028" y="2697480"/>
            <a:ext cx="20528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 считает и чертит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653028" y="3154680"/>
            <a:ext cx="20528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Схема подключения, чертежи подстанции и линии, проверка по нормам сети.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208776" y="2148840"/>
            <a:ext cx="2601468" cy="1874520"/>
          </a:xfrm>
          <a:prstGeom prst="roundRect">
            <a:avLst>
              <a:gd name="adj" fmla="val 878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83096" y="237744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6483096" y="2697480"/>
            <a:ext cx="20528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Инженер подписывает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483096" y="3154680"/>
            <a:ext cx="20528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Проверяет, правит, принимает решения и ставит подпись.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9038844" y="2148840"/>
            <a:ext cx="2601468" cy="1874520"/>
          </a:xfrm>
          <a:prstGeom prst="roundRect">
            <a:avLst>
              <a:gd name="adj" fmla="val 878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313164" y="237744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9313164" y="2697480"/>
            <a:ext cx="20528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Сеть принимает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313164" y="3154680"/>
            <a:ext cx="20528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Пакет проходит согласование с первого раза, без двух-трёх кругов правок. Можно строить.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4251960"/>
            <a:ext cx="10725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Ключевая технология — мультиагентный фреймворк Океан Тех: каждый агент решает одну задачу (расчёт, чертёж, проверка нормы), оркестрация собирает из них проект, база знаний хранит нормы и требования конкретных сетей. Платформа встраивается в инструменты инженеров, а не заменяет их.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525780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Из пяти лет ожидания клиент может ускорить деньгами только проект и его согласование — месяцы и круги правок. Месяц простоя готового дата-центра стоит дороже всего проекта, поэтому клиент платит за срок.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КТО ПОКУПАТЕЛЬ, ПОЛЬЗОВАТЕЛЬ И ЛИЦО, ПРИНИМАЮЩЕЕ РЕШЕНИЕ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Целевая аудитория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Покупатель — инженерные компании, которые проектируют подключение к сети; их заказчики — все, кто стоит в очереди на мегаватты.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/ 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3544824" cy="1874520"/>
          </a:xfrm>
          <a:prstGeom prst="roundRect">
            <a:avLst>
              <a:gd name="adj" fmla="val 8780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ЗАКАЗЧИК 1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Дата-центры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154680"/>
            <a:ext cx="29961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Самые нетерпеливые: серверы уже куплены. Покупают срок.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22064" y="2148840"/>
            <a:ext cx="3544824" cy="1874520"/>
          </a:xfrm>
          <a:prstGeom prst="roundRect">
            <a:avLst>
              <a:gd name="adj" fmla="val 8780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96384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ЗАКАЗЧИК 2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4596384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Станции и накопители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596384" y="3154680"/>
            <a:ext cx="29961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Солнце, ветер, батареи — основная масса очереди. Десятки проектов у одного девелопера.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095488" y="2148840"/>
            <a:ext cx="3544824" cy="1874520"/>
          </a:xfrm>
          <a:prstGeom prst="roundRect">
            <a:avLst>
              <a:gd name="adj" fmla="val 8780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69808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ЗАКАЗЧИК 3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8369808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Крупные подрядчики и сети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369808" y="3154680"/>
            <a:ext cx="29961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хватает инженеров под собственные программы. Покупают инженерные часы оптом.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251960"/>
            <a:ext cx="107259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Пользователь — инженер-проектировщик. Лицо, принимающее решение, — владелец инженерной компании: выработка на инженера и есть его прибыль.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029200"/>
            <a:ext cx="107259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Первые рынки — Персидский залив и Индия: там строят больше всего, инженеров не хватает так же (Саудовская Аравия законом требует 30% местных инженеров), стоят они в несколько раз дешевле, чем в США, и туда пускают команду из России. США и Европа — позже и через партнёров.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 ЧТО ПЛАТЯТ, КТО ПЛАТИТ, ВЫРУЧКА И ОСНОВНЫЕ РАСХОДЫ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Бизнес-модель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Платформу не продаём как софт — софт в энергетике раздают бесплатно. Встраиваем её в компании, которые покупаем, и зарабатываем проектный гонорар: проектов на инженера больше.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/ 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5431536" cy="1691640"/>
          </a:xfrm>
          <a:prstGeom prst="roundRect">
            <a:avLst>
              <a:gd name="adj" fmla="val 973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" y="2331720"/>
            <a:ext cx="4791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ФИРМА ДО ПОКУПКИ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651760"/>
            <a:ext cx="47914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2,8 млн $</a:t>
            </a:r>
            <a:endParaRPr lang="en-US" sz="38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3337560"/>
            <a:ext cx="4791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выручки в год · 40 инженеров · маржа бюро без ИИ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08776" y="2148840"/>
            <a:ext cx="5431536" cy="1691640"/>
          </a:xfrm>
          <a:prstGeom prst="roundRect">
            <a:avLst>
              <a:gd name="adj" fmla="val 9730"/>
            </a:avLst>
          </a:prstGeom>
          <a:solidFill>
            <a:srgbClr val="EAF9C2"/>
          </a:solidFill>
          <a:ln w="12700">
            <a:solidFill>
              <a:srgbClr val="EAF9C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28816" y="2331720"/>
            <a:ext cx="4791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ТА ЖЕ ФИРМА С НАШИМ ИИ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6528816" y="2651760"/>
            <a:ext cx="47914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4,2 млн $</a:t>
            </a:r>
            <a:endParaRPr lang="en-US" sz="3800" dirty="0"/>
          </a:p>
        </p:txBody>
      </p:sp>
      <p:sp>
        <p:nvSpPr>
          <p:cNvPr id="14" name="Text 12"/>
          <p:cNvSpPr txBox="1"/>
          <p:nvPr/>
        </p:nvSpPr>
        <p:spPr>
          <a:xfrm>
            <a:off x="6528816" y="3337560"/>
            <a:ext cx="4791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выручки в год · те же 40 инженеров · маржа 24% — цель модели, не факт: по сектору ИИ пока дал +0,1 п.п.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023360"/>
            <a:ext cx="10725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 что платят: проектный гонорар — порядка 3% стоимости стройки подстанции. Кто платит: девелоперы и подрядчики, которым нужен подписанный проект быстрее. Заказов у таких фирм больше, чем рук, — поэтому они и не могут нанять.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983480"/>
            <a:ext cx="107259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Основные расходы: инженеры (те же зарплаты) и ИИ-команда — 1,2 млн $ в год на всю группу. При одной фирме она съедает почти весь прирост, при пяти обходится по 240 тысяч на фирму: одна фирма — эксперимент, бизнес — группа. Позже — сопровождение стройки (+15–35% к гонорару) и обслуживание построенных подстанций.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6035040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A8E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Базовый сценарий финмодели: рост выработки в полтора раза, цель — вдвое; покупка фирмы за годовую выручку. Финмодель с тремя сценариями прилагается.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РАЗМЕР СЕГМЕНТА, ТРЕНД, КОНКУРЕНТЫ И МЕСТО ПРОДУКТА НА РЫНКЕ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Рынок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Размер: порядка 450 млн $ в год на проектирование сетей в одной Саудовской Аравии. Тренд: спрос дата-центров на электричество удваивается к 2030.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/ 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94560"/>
            <a:ext cx="3544824" cy="1920240"/>
          </a:xfrm>
          <a:prstGeom prst="roundRect">
            <a:avLst>
              <a:gd name="adj" fmla="val 8571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" y="2468880"/>
            <a:ext cx="29047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млрд $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337560"/>
            <a:ext cx="29047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контрактов на сети и подстанции за год в Саудовской Аравии; ~3% — проектирование, ~450 млн $ в год (оценка)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22064" y="2194560"/>
            <a:ext cx="3544824" cy="1920240"/>
          </a:xfrm>
          <a:prstGeom prst="roundRect">
            <a:avLst>
              <a:gd name="adj" fmla="val 8571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42104" y="2468880"/>
            <a:ext cx="29047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</a:t>
            </a:r>
            <a:endParaRPr lang="en-US" sz="4400" dirty="0"/>
          </a:p>
        </p:txBody>
      </p:sp>
      <p:sp>
        <p:nvSpPr>
          <p:cNvPr id="12" name="Text 10"/>
          <p:cNvSpPr txBox="1"/>
          <p:nvPr/>
        </p:nvSpPr>
        <p:spPr>
          <a:xfrm>
            <a:off x="4642104" y="3337560"/>
            <a:ext cx="29047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потребление электричества дата-центрами к 2030: 415 → 950 ТВт·ч (IEA); в очереди США — 2061 ГВт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95488" y="2194560"/>
            <a:ext cx="3544824" cy="1920240"/>
          </a:xfrm>
          <a:prstGeom prst="roundRect">
            <a:avLst>
              <a:gd name="adj" fmla="val 8571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415528" y="2468880"/>
            <a:ext cx="29047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1,78</a:t>
            </a:r>
            <a:endParaRPr lang="en-US" sz="4400" dirty="0"/>
          </a:p>
        </p:txBody>
      </p:sp>
      <p:sp>
        <p:nvSpPr>
          <p:cNvPr id="15" name="Text 13"/>
          <p:cNvSpPr txBox="1"/>
          <p:nvPr/>
        </p:nvSpPr>
        <p:spPr>
          <a:xfrm>
            <a:off x="8415528" y="3337560"/>
            <a:ext cx="29047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млрд $ заплатила WSP за 4000 инженеров-сетевиков — 445 тысяч $ за инженера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297680"/>
            <a:ext cx="10725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Конкуренты: ИИ-софт (Bentley), данные о подключении (Enverus → Pearl Street), ИИ-стартапы для дата-центров (Marengo, Vela — YC 2026; ThinkLabs — 28 млн $) и консолидаторы, которые уже покупают фирмы по подключению: E Source → CF Power, Littlejohn + GDS, Qualus (продан по 14,9×). Никто из них не идёт в Залив и Индию.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5257800"/>
            <a:ext cx="10725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Место продукта: единственная форма, которую не убить бесплатной фичей инкумбента или порталом регулятора, — ИИ внутри компаний, у которых есть подпись и клиенты. Мы стоим не рядом с Bentley, а внутри инженерной фирмы, которая пользуется Bentley.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603504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D5F7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Покупаем инженера за 70 тысяч $. Крупных покупают по 445 — разрыв реален, но платят его за масштаб, не за ИИ.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ТЕКУЩАЯ СТАДИЯ, БЛИЖАЙШИЕ ЭТАПЫ, РЕСУРСЫ И РЕЗУЛЬТАТ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План развития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Текущая стадия: ИИ-стек построен, гипотеза проверена, есть партнёр-полигон с электросетевой компанией. Пилотов в энергетическом проектировании пока нет — это первый этап.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/ 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3544824" cy="1874520"/>
          </a:xfrm>
          <a:prstGeom prst="roundRect">
            <a:avLst>
              <a:gd name="adj" fmla="val 878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ЭТАП 1 · ПОЛГОДА · 3 МЛН $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Пилоты и выбор фирмы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154680"/>
            <a:ext cx="29961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 на реальном потоке проектов, два пилотных проекта, измерение выработки, выбрана первая фирма для покупки.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22064" y="2148840"/>
            <a:ext cx="3544824" cy="1874520"/>
          </a:xfrm>
          <a:prstGeom prst="roundRect">
            <a:avLst>
              <a:gd name="adj" fmla="val 878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96384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ЭТАП 2 · ДО 15 МЕС · 7 МЛН $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4596384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Первая фирма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596384" y="3154680"/>
            <a:ext cx="29961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Покупка лицензированной фирмы на 20–50 инженеров в Заливе или Индии, интеграция платформы. Выручка +50% при том же штате.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095488" y="2148840"/>
            <a:ext cx="3544824" cy="1874520"/>
          </a:xfrm>
          <a:prstGeom prst="roundRect">
            <a:avLst>
              <a:gd name="adj" fmla="val 878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69808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ЭТАП 3 · К ГОДУ 3 · 20 МЛН $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8369808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Пять фирм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369808" y="3154680"/>
            <a:ext cx="29961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Ещё четыре фирмы с клиентами и выручкой: 200 инженеров, один ИИ на всех, 20 млн $ выручки в год.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251960"/>
            <a:ext cx="10725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Ресурсы: 30 млн $ тремя траншами, ИИ-команда Океан Тех, инженер-партнёр с лицензией на целевом рынке — первый найм. Порог, ниже которого не идём на этап 2: рост выработки в полтора раза, измеренный на пилотах.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21208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Ожидаемый результат: группа из пяти инженерных компаний с одним ИИ; к пятому году — 500 инженеров (рост с 200 — на выручку группы и долг под неё) и продажа. Покупатель — фонды, которые собирают такие группы (Trilon, Verdantas, E Source, Qualus → Clearlake): они платят больше стратегов, 10,8× против 7,3× прибыли.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6080760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A8E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Годы 2–5 — цели, не прогноз. Ориентиры масштаба — сделки-аналоги категории.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ПРОТОТИП, ПИЛОТЫ, КЛИЕНТЫ, КОНТРАКТЫ, ПОДТВЕРЖДЁННАЯ TRACTION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 Доказательства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подтверждено: команда, стек и метод Океан Тех, партнёр-полигон. Чего пока нет: пилотов в энергетическом проектировании — поэтому первый шаг маленький и измеримый.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/ 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2601468" cy="1097280"/>
          </a:xfrm>
          <a:prstGeom prst="roundRect">
            <a:avLst>
              <a:gd name="adj" fmla="val 1166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2402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1737360" y="2258568"/>
            <a:ext cx="12298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проектов реализовано, 32 клиента из 7 отраслей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378708" y="2148840"/>
            <a:ext cx="2601468" cy="1097280"/>
          </a:xfrm>
          <a:prstGeom prst="roundRect">
            <a:avLst>
              <a:gd name="adj" fmla="val 1166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07308" y="22402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4567428" y="2258568"/>
            <a:ext cx="12298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человека в штате: исследователи, инженеры, дизайнеры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208776" y="2148840"/>
            <a:ext cx="2601468" cy="1097280"/>
          </a:xfrm>
          <a:prstGeom prst="roundRect">
            <a:avLst>
              <a:gd name="adj" fmla="val 1166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37376" y="22402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7397496" y="2258568"/>
            <a:ext cx="12298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исследователей и ML-инженеров; база из 277 верифицированных кейсов ИИ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9038844" y="2148840"/>
            <a:ext cx="2601468" cy="1097280"/>
          </a:xfrm>
          <a:prstGeom prst="roundRect">
            <a:avLst>
              <a:gd name="adj" fmla="val 1166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267444" y="22402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59%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10227564" y="2258568"/>
            <a:ext cx="12298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сокращение сроков создания решений на собственном фреймворке (по данным компании)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48640" y="3429000"/>
            <a:ext cx="3544824" cy="1554480"/>
          </a:xfrm>
          <a:prstGeom prst="roundRect">
            <a:avLst>
              <a:gd name="adj" fmla="val 9412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pic>
        <p:nvPicPr>
          <p:cNvPr id="20" name="Image 0" descr="_team/penko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611880"/>
            <a:ext cx="1022299" cy="1188720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1918411" y="3584448"/>
            <a:ext cx="201960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Дмитрий Пеньков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1918411" y="3840480"/>
            <a:ext cx="201960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46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Генеральный директор, основатель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1918411" y="4206240"/>
            <a:ext cx="201960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Предприниматель с опытом в технологиях. Buckswood School, МИРБИС, MBA при МГИМО.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4322064" y="3429000"/>
            <a:ext cx="3544824" cy="1554480"/>
          </a:xfrm>
          <a:prstGeom prst="roundRect">
            <a:avLst>
              <a:gd name="adj" fmla="val 9412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pic>
        <p:nvPicPr>
          <p:cNvPr id="25" name="Image 1" descr="_team/moroshi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4944" y="3611880"/>
            <a:ext cx="1022299" cy="1188720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5691835" y="3584448"/>
            <a:ext cx="201960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Константин Морошин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5691835" y="3840480"/>
            <a:ext cx="201960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46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Глава Центра исследований</a:t>
            </a:r>
            <a:endParaRPr lang="en-US" sz="950" dirty="0"/>
          </a:p>
        </p:txBody>
      </p:sp>
      <p:sp>
        <p:nvSpPr>
          <p:cNvPr id="28" name="Text 24"/>
          <p:cNvSpPr txBox="1"/>
          <p:nvPr/>
        </p:nvSpPr>
        <p:spPr>
          <a:xfrm>
            <a:off x="5691835" y="4206240"/>
            <a:ext cx="201960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Исследователь UX в B2B ИТ: МТС Ред, КРОК, Инностейдж, Сбер. 10+ лет продаж ИТ в энтерпрайзе.</a:t>
            </a:r>
            <a:endParaRPr lang="en-US" sz="900" dirty="0"/>
          </a:p>
        </p:txBody>
      </p:sp>
      <p:sp>
        <p:nvSpPr>
          <p:cNvPr id="29" name="Shape 25"/>
          <p:cNvSpPr/>
          <p:nvPr/>
        </p:nvSpPr>
        <p:spPr>
          <a:xfrm>
            <a:off x="8095488" y="3429000"/>
            <a:ext cx="3544824" cy="1554480"/>
          </a:xfrm>
          <a:prstGeom prst="roundRect">
            <a:avLst>
              <a:gd name="adj" fmla="val 9412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pic>
        <p:nvPicPr>
          <p:cNvPr id="30" name="Image 2" descr="_team/kovalev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8368" y="3611880"/>
            <a:ext cx="1022299" cy="1188720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9465259" y="3584448"/>
            <a:ext cx="201960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Сергей Ковалёв</a:t>
            </a:r>
            <a:endParaRPr lang="en-US" sz="1200" dirty="0"/>
          </a:p>
        </p:txBody>
      </p:sp>
      <p:sp>
        <p:nvSpPr>
          <p:cNvPr id="32" name="Text 27"/>
          <p:cNvSpPr txBox="1"/>
          <p:nvPr/>
        </p:nvSpPr>
        <p:spPr>
          <a:xfrm>
            <a:off x="9465259" y="3840480"/>
            <a:ext cx="201960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46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Управляющий партнёр</a:t>
            </a:r>
            <a:endParaRPr lang="en-US" sz="950" dirty="0"/>
          </a:p>
        </p:txBody>
      </p:sp>
      <p:sp>
        <p:nvSpPr>
          <p:cNvPr id="33" name="Text 28"/>
          <p:cNvSpPr txBox="1"/>
          <p:nvPr/>
        </p:nvSpPr>
        <p:spPr>
          <a:xfrm>
            <a:off x="9465259" y="4206240"/>
            <a:ext cx="201960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Предприниматель и стратег с опытом в области ИИ и Web3.</a:t>
            </a:r>
            <a:endParaRPr lang="en-US" sz="900" dirty="0"/>
          </a:p>
        </p:txBody>
      </p:sp>
      <p:sp>
        <p:nvSpPr>
          <p:cNvPr id="34" name="Text 29"/>
          <p:cNvSpPr txBox="1"/>
          <p:nvPr/>
        </p:nvSpPr>
        <p:spPr>
          <a:xfrm>
            <a:off x="548640" y="5166360"/>
            <a:ext cx="107259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Ещё: партнёр с электросетевой компанией и реальный поток проектов подключения для отладки; десять смежных идей проверены и отброшены до этой; публикации в Inc., RTVI, TAdviser; фирмы того же типа в соседнем сегменте (Marengo, YC 2026) заявляют удвоение выработки. Чего нет: собственных пилотов в энергетике и контрактов с инженерными фирмами — их даёт этап 1: 250 тысяч $ и восемь недель до любых покупок.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СКОЛЬКО ТРЕБУЕТСЯ, НА ЧТО ПОЙДУТ СРЕДСТВА, ЧТО ПОЛУЧАЕТ ИНВЕСТОР, СЛЕДУЮЩИЙ ШАГ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 Запрос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млн $ тремя траншами. Двадцать из тридцати идут не в сжигание, а в покупку готовой выручки.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3544824" cy="1828800"/>
          </a:xfrm>
          <a:prstGeom prst="roundRect">
            <a:avLst>
              <a:gd name="adj" fmla="val 9000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ТРАНШ 1 · 3 МЛН $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Полгода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154680"/>
            <a:ext cx="2996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 на реальных проектах, два пилота, измеренная выработка, выбрана фирма для покупки.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22064" y="2148840"/>
            <a:ext cx="3544824" cy="1828800"/>
          </a:xfrm>
          <a:prstGeom prst="roundRect">
            <a:avLst>
              <a:gd name="adj" fmla="val 9000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96384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ТРАНШ 2 · 7 МЛН $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4596384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Первая фирма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596384" y="3154680"/>
            <a:ext cx="2996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Покупка, интеграция платформы. Выручка фирмы растёт в полтора раза при том же штате.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095488" y="2148840"/>
            <a:ext cx="3544824" cy="1828800"/>
          </a:xfrm>
          <a:prstGeom prst="roundRect">
            <a:avLst>
              <a:gd name="adj" fmla="val 9000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69808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ТРАНШ 3 · 20 МЛН $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8369808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Ещё четыре фирмы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369808" y="3154680"/>
            <a:ext cx="2996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 клиентами и выручкой. 200 инженеров и 20 млн $ в год к концу третьего года.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206240"/>
            <a:ext cx="10725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что пойдут средства: 14 млн — пять фирм по цене годовой выручки; 3,6 млн — ИИ-команда на три года; 2 млн — сделки и юристы; остальное — запас на случай, если фирмы стоят дороже. Первый шаг внутри первого транша — 250 тысяч $ и восемь недель.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120640"/>
            <a:ext cx="107259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получает инвестор: долю в новой международной компании, которая владеет всеми фирмами; условия раунда обсуждаем отдельно. Следующий шаг — встреча с финмоделью (три сценария) и договорённость о первом шаге.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59436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5F7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Константин Морошин · Океан Тех · sales@okeantech.ru · okeantech.ru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ПРИЛОЖЕНИЕ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Откуда цифры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/ 11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11091672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лет / 61 месяц; 2061 ГВт — LBNL, Queued Up: 2026 Edition. 89% работодателей — DOE, U.S. Energy &amp; Employment Report 2025.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1,78 млрд $ / 4000 сотрудников — WSP → POWER Engineers, 10.2024; 3,3 млрд $ — WSP → TRC (ENR). 445 тыс. $ за инженера = 1,78 млрд / 4000.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млрд $ контрактов КСА (2025) — trade.gov; 450 млн $ — оценка: 3% (доля инжиниринга, MISO Transmission Cost Estimation Guide). National Grid — 130 подстанций, 8 млрд £ до 2031.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415 → 950 ТВт·ч — IEA, Energy and AI (2025) и Key Questions on Energy and AI (2026). 30% местных инженеров — HRSD КСА № 103105 от 26.01.2025.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2,8 → 4,2 млн $, маржа 24%, ИИ-команда 1,2 млн $/год, раунд 14 + 3,6 + 2 ≈ 21 млн $ — финмодель, базовый сценарий (рост выработки ×1,5, покупка за 1× выручки).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Стадия строительства 15–35% — ACEC-BC, WA OFM. Конкуренты: Bentley; Enverus → Pearl Street (03.2025); Marengo, Vela (YC 2026); ThinkLabs (28 млн $); Black &amp; Veatch — вакансия 27.08.2026.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 проектов, 32 клиента, 64 сотрудника, 14 исследователей, 59%, публикации — корпоративная презентация Океан Тех (2026).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Годы 2–5, 200 и 500 инженеров, 20 млн $ — цели, не прогноз.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Сверка с паспортом роллапа (engineering-rollup-passport.md, 02.09.2026): маржа сектора 9,8 → 9,9% — SPI/Kantata 2026; малые фирмы 5,4–7,5× EBITDA — ROG Partners; фонды 10,75× против стратегов 7,34× — ACEC / Morrissey Goodale 2018–2023; двузначный мультипликатор с выручки 75–100 млн $; Qualus → Clearlake ~14,9× (25.03.2026); E Source → CF Power (09.2025); Littlejohn + GDS (05.03.2026); отток 47%/75% — EY; NV5 — 49 покупок, 1,7 млрд $ (08.2025).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2026-09-02T22:08:29Z</dcterms:created>
  <dcterms:modified xsi:type="dcterms:W3CDTF">2026-09-02T22:08:29Z</dcterms:modified>
</cp:coreProperties>
</file>