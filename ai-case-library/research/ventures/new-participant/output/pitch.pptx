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строим институты</a:t>
            </a:r>
            <a:endParaRPr lang="en-US" sz="4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нового участника экономики.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4069080"/>
            <a:ext cx="20116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3891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Труд. Личность. Капитал. Три института для программ, которые уже работают, говорят от своего имени и тратят деньги.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на три года · 10 млн $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811512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 · КОНЦЕПЦИЯ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участником был человек. Потом — компания. Теперь — программа.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320798"/>
            <a:ext cx="354482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4939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 XVII ВЕКА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6943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Ремесленник и цех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18078"/>
            <a:ext cx="2996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своими руками, отвечает своим именем, держит деньги при себе. Участник экономики — это тело, которое можно позвать, нанять и с которого можно спросить.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2320798"/>
            <a:ext cx="3544824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254939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XVII ВЕК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86943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Акционерное общество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418078"/>
            <a:ext cx="2996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Появляется участник без тела. Компания владеет имуществом, нанимает людей, судится и платит налоги — и живёт дольше тех, кто её создал.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320798"/>
            <a:ext cx="3544824" cy="301752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254939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2020-Е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86943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Автономная программа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418078"/>
            <a:ext cx="2996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без человека за пультом, обращается к людям от своего имени и тратит деньги. Участник уже есть — институтов под него ещё нет.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 · КОНЦЕПЦИЯ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стать участником экономики, нужны три вещи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366518"/>
            <a:ext cx="354482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640838"/>
            <a:ext cx="2959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463798"/>
            <a:ext cx="2959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Уметь выполнять работу, за которую платят деньги. Не помогать в работе, а делать её и отвечать за результат.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2064" y="2366518"/>
            <a:ext cx="354482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4672" y="2640838"/>
            <a:ext cx="2959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Личность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14672" y="3463798"/>
            <a:ext cx="2959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Иметь имя и лицо, которым доверяют. Того, кого нельзя назвать, нельзя ни нанять, ни полюбить, ни привлечь к ответу.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5488" y="2366518"/>
            <a:ext cx="354482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8096" y="2640838"/>
            <a:ext cx="2959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88096" y="3463798"/>
            <a:ext cx="2959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Владеть деньгами и распоряжаться ими. Иметь счёт, лимит и право на трату — без этого участник остаётся инструментом.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 · КОНЦЕПЦИЯ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 каждого участника мир построил свои институты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9547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людей их строили веками, для компаний — с XVII века. Для программ их нет ни одного.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761565" y="2017268"/>
            <a:ext cx="2849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ЛЮДЕЙ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776011" y="2017268"/>
            <a:ext cx="2849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КОМПАНИЙ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790458" y="2017268"/>
            <a:ext cx="2849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ПРОГРАММ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1316"/>
            <a:ext cx="2048333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565908"/>
            <a:ext cx="1591133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761565" y="2401316"/>
            <a:ext cx="2849854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90165" y="2565908"/>
            <a:ext cx="2392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Цеха и биржи труда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776011" y="2401316"/>
            <a:ext cx="2849854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04611" y="2565908"/>
            <a:ext cx="2392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Найм и аутсорсинг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90458" y="2401316"/>
            <a:ext cx="2849854" cy="105156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19058" y="2565908"/>
            <a:ext cx="2392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Океан Тех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3580892"/>
            <a:ext cx="2048333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745484"/>
            <a:ext cx="1591133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Личность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761565" y="3580892"/>
            <a:ext cx="2849854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90165" y="3745484"/>
            <a:ext cx="2392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и репутация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776011" y="3580892"/>
            <a:ext cx="2849854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04611" y="3745484"/>
            <a:ext cx="2392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Торговая марка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790458" y="3580892"/>
            <a:ext cx="2849854" cy="105156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19058" y="3745484"/>
            <a:ext cx="2392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Океан Тех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48640" y="4760468"/>
            <a:ext cx="2048333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925060"/>
            <a:ext cx="1591133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2761565" y="4760468"/>
            <a:ext cx="2849854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90165" y="4925060"/>
            <a:ext cx="2392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Банки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776011" y="4760468"/>
            <a:ext cx="2849854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04611" y="4925060"/>
            <a:ext cx="2392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и корпоративные счета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790458" y="4760468"/>
            <a:ext cx="2849854" cy="105156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19058" y="4925060"/>
            <a:ext cx="239265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Океан Тех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 · КОНЦЕПЦИЯ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строим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9547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института — три бизнеса, каждый со своим продуктом и своими деньгами.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7268"/>
            <a:ext cx="25624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ИНСТИТУТ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275729" y="2017268"/>
            <a:ext cx="3843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СТРОИМ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284067" y="2017268"/>
            <a:ext cx="4356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ПРОДУКТ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01316"/>
            <a:ext cx="256249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565908"/>
            <a:ext cx="210529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75729" y="2401316"/>
            <a:ext cx="3843746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04329" y="2565908"/>
            <a:ext cx="338654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ИИ-сотрудники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84067" y="2401316"/>
            <a:ext cx="4356245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12667" y="2565908"/>
            <a:ext cx="389904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Сотрудник для отрасли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580892"/>
            <a:ext cx="256249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745484"/>
            <a:ext cx="210529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Личность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275729" y="3580892"/>
            <a:ext cx="3843746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04329" y="3745484"/>
            <a:ext cx="338654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Персонажи и их аудитория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84067" y="3580892"/>
            <a:ext cx="4356245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12667" y="3745484"/>
            <a:ext cx="389904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Сериалы и персонажи для брендов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760468"/>
            <a:ext cx="256249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925060"/>
            <a:ext cx="210529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3275729" y="4760468"/>
            <a:ext cx="3843746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04329" y="4925060"/>
            <a:ext cx="338654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Финансовая инфраструктура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84067" y="4760468"/>
            <a:ext cx="4356245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12667" y="4925060"/>
            <a:ext cx="389904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Учёт и контроль расходов на ИИ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 · КОНЦЕПЦИЯ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 и биржа труда — разные бизнесы. Но без обоих экономика не работает.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252218"/>
            <a:ext cx="543153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8081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 ОТДЕЛЬНОСТИ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00858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институт самодостаточен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49498"/>
            <a:ext cx="4882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каждого свой покупатель, своя выручка и свой рынок. Ни один не ждёт, пока заработают остальные, — любой из трёх можно предъявить как отдельную компанию.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08776" y="2252218"/>
            <a:ext cx="5431536" cy="22860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83096" y="248081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ВМЕСТЕ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800858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Позиция, которую нельзя скопировать по частям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83096" y="3349498"/>
            <a:ext cx="4882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 даёт программе работу, Личность — имя, Капитал — деньги. Тот, кто повторит одно, получит продукт. Все три вместе дают положение, к которому идут годами.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58258"/>
            <a:ext cx="11091672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041138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делаем не три продукта. Мы делаем участника целиком.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 · КОНЦЕПЦИЯ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320798"/>
            <a:ext cx="354482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4939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СТОИМОСТЬ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6943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Упала в десятки раз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18078"/>
            <a:ext cx="29961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продукта за два года подешевело в десятки раз. Дорого стало не делать, а выбирать, что именно делать.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2320798"/>
            <a:ext cx="354482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254939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СКОРОСТЬ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86943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Годы стали месяцами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418078"/>
            <a:ext cx="29961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То, на что уходили годы и сто человек, небольшая команда делает за месяцы. Размер студии перестал определять размер замысла.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320798"/>
            <a:ext cx="3544824" cy="292608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254939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ПОЛЕ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86943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Целое не собрал никто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418078"/>
            <a:ext cx="29961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Крупные игроки скупают отдельные куски — счётчики, ассистентов, студии. Институт как целое пока не строит никто.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 · КОНЦЕПЦИЯ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03601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Институты закладывают один раз.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пять лет места будут заняты.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5394960"/>
            <a:ext cx="1463040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II · ТРУД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03601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Софт продавали по числу людей.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продаём саму работу.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5394960"/>
            <a:ext cx="1463040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II · ТРУД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ИИ-сотрудник для отрасли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9547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программа, которой учатся пользоваться, а сотрудник, которому дают задачу.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77414"/>
            <a:ext cx="354482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0601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 ИНСТРУМЕНТ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2605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Ему дают задачу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74694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не осваивает интерфейс и не описывает шаги. Он формулирует работу так же, как поставил бы её человеку, и получает сделанное.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677414"/>
            <a:ext cx="354482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90601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ОТРАСЛЕВОЙ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22605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 знает отрасль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774694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— правила, документы и порядок работы конкретной отрасли. Универсальный ассистент так не умеет: он знает всё и не отвечает ни за что.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677414"/>
            <a:ext cx="3544824" cy="283464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906014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ПРОВЕРЯЕМЫЙ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22605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принимает человек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774694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встроена в продукт, а не оставлена клиенту. Ответственность за результат остаётся на нас — за это и платят.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II · ТРУД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цифры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023618"/>
            <a:ext cx="3544824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297938"/>
            <a:ext cx="2959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55 000 €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120898"/>
            <a:ext cx="2959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год стоит живой сотрудник на этой роли — с налогами, рабочим местом и отпуском.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2064" y="2023618"/>
            <a:ext cx="3544824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4672" y="2297938"/>
            <a:ext cx="2959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12 000 €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14672" y="3120898"/>
            <a:ext cx="2959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год стоит наш. Разница не в проценте экономии, а в том, что роль закрывается там, где на неё не хватало бюджета.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5488" y="2023618"/>
            <a:ext cx="3544824" cy="265176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8096" y="2297938"/>
            <a:ext cx="2959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40 000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88096" y="3120898"/>
            <a:ext cx="2959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компаний в отрасли, и у каждой таких ролей от двух до десяти.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995418"/>
            <a:ext cx="11091672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78298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продаём не подписку на софт, а закрытую роль.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II · ТРУД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уже принесло деньги в пяти отраслях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95476"/>
            <a:ext cx="31154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КОМПАНИЯ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828689" y="1395476"/>
            <a:ext cx="4248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ОТРАСЛЬ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41632" y="1395476"/>
            <a:ext cx="339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ДЕНЬГИ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779524"/>
            <a:ext cx="3115457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944116"/>
            <a:ext cx="265825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828689" y="1779524"/>
            <a:ext cx="4248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57289" y="1944116"/>
            <a:ext cx="37911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Юристы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41632" y="1779524"/>
            <a:ext cx="339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70232" y="1944116"/>
            <a:ext cx="294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$11 млрд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2474468"/>
            <a:ext cx="3115457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639060"/>
            <a:ext cx="265825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Legora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828689" y="2474468"/>
            <a:ext cx="4248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57289" y="2639060"/>
            <a:ext cx="37911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Юристы, Стокгольм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41632" y="2474468"/>
            <a:ext cx="339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70232" y="2639060"/>
            <a:ext cx="294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более $100 млн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3169412"/>
            <a:ext cx="3115457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334004"/>
            <a:ext cx="265825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EliseAI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828689" y="3169412"/>
            <a:ext cx="4248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57289" y="3334004"/>
            <a:ext cx="37911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Недвижимость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41632" y="3169412"/>
            <a:ext cx="339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70232" y="3334004"/>
            <a:ext cx="294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$200 млн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3864356"/>
            <a:ext cx="3115457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028948"/>
            <a:ext cx="265825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3828689" y="3864356"/>
            <a:ext cx="4248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057289" y="4028948"/>
            <a:ext cx="37911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Бухгалтерия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241632" y="3864356"/>
            <a:ext cx="339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70232" y="4028948"/>
            <a:ext cx="294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$1,15 млрд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48640" y="4559300"/>
            <a:ext cx="3115457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723892"/>
            <a:ext cx="265825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Parloa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3828689" y="4559300"/>
            <a:ext cx="4248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57289" y="4723892"/>
            <a:ext cx="37911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Клиентский сервис, Берлин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241632" y="4559300"/>
            <a:ext cx="339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70232" y="4723892"/>
            <a:ext cx="294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$3 млрд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391404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из пяти — европейские.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II · ТРУД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160778"/>
            <a:ext cx="354482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8937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СТУПЕНЬ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0941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сотрудник для одной задачи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58058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роль, один отдел, понятный счёт. Клиент сравнивает нас с зарплатой, а не с тарифом на софт.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2160778"/>
            <a:ext cx="354482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238937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СТУПЕНЬ 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70941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Штат из десятка ролей, оплата за работу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258058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Компания берёт не программу, а команду. Платит за объём сделанного, как платила бы подрядчику.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160778"/>
            <a:ext cx="3544824" cy="237744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238937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СТУПЕНЬ 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70941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Смешанные команды из людей и программ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258058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и ИИ-сотрудники работают в одном процессе, и граница между наймом и подпиской исчезает.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58258"/>
            <a:ext cx="11091672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041138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ИТ-бюджет. Это фонд оплаты труда — он в разы больше.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II · ТРУД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 возьмём эту отрасль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77898"/>
            <a:ext cx="11091672" cy="12802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05914"/>
            <a:ext cx="10725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Прямой доступ к первым клиентам — мы уже работаем с этими компаниями и знаем, кто принимает решение.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212338"/>
            <a:ext cx="11091672" cy="12802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340354"/>
            <a:ext cx="10725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Отраслевой партнёр в команде: человек, который делал эту работу руками и отвечает за то, что продукт годится в дело.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446778"/>
            <a:ext cx="11091672" cy="12802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574794"/>
            <a:ext cx="10725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 корпоративных продаж в США и ЕС — длинный цикл, служба безопасности, юристы, закупки.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III · ЛИЧНОСТЬ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Персонажей в мире мало, потому что их дорого создавать.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389378"/>
            <a:ext cx="35448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1797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США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3801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Миньоны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86658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Годы работы студии и бюджет большого кино.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2389378"/>
            <a:ext cx="35448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261797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РОССИЯ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93801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Маша и Медведь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486658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Десять лет производства и постоянная команда.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389378"/>
            <a:ext cx="3544824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261797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ФИНЛЯНДИЯ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93801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Angry Birds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486658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Годы попыток до того, как персонаж стал узнаваемым.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721098"/>
            <a:ext cx="11091672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903978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мировые персонажи принадлежат нескольким студиям. Вход стоил как завод.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III · ЛИЧНОСТЬ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изменилось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702812" y="1795018"/>
            <a:ext cx="3886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БЫЛО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753858" y="1795018"/>
            <a:ext cx="3886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СТАЛО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179066"/>
            <a:ext cx="29895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43658"/>
            <a:ext cx="25323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Серия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702812" y="2179066"/>
            <a:ext cx="388645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412" y="2343658"/>
            <a:ext cx="342925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Месяцы и целая студия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53858" y="2179066"/>
            <a:ext cx="3886454" cy="118872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82458" y="2343658"/>
            <a:ext cx="342925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дня и 400 €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3495802"/>
            <a:ext cx="29895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660394"/>
            <a:ext cx="25323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персонаж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702812" y="3495802"/>
            <a:ext cx="388645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31412" y="3660394"/>
            <a:ext cx="342925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и больше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53858" y="3495802"/>
            <a:ext cx="3886454" cy="118872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82458" y="3660394"/>
            <a:ext cx="342925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недели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48640" y="4995418"/>
            <a:ext cx="11091672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178298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попытки упала настолько, что можно пробовать двадцать раз.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III · ЛИЧНОСТЬ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Наши персонажи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78356"/>
            <a:ext cx="7223760" cy="3291840"/>
          </a:xfrm>
          <a:prstGeom prst="rect">
            <a:avLst/>
          </a:prstGeom>
          <a:solidFill>
            <a:srgbClr val="F2F2F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99567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Кадры из собственных сериалов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0" y="1578356"/>
            <a:ext cx="3593592" cy="96012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1040" y="1715516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2264156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серии выпущено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675636"/>
            <a:ext cx="35935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812796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380 000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361436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просмотров первой серии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772916"/>
            <a:ext cx="35935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3910076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12 000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458716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подписчиков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III · ЛИЧНОСТЬ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платит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412238"/>
            <a:ext cx="543153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4083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БРЕНДЫ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60878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48 000 € в год за собственного персонажа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09518"/>
            <a:ext cx="4882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Персонаж живёт постоянно: выходит каждую неделю, отвечает аудитории, стареет вместе с брендом. Это меньше, чем один маркетолог в штате, — и заметнее любой рекламной кампании.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08776" y="2412238"/>
            <a:ext cx="5431536" cy="27432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83096" y="264083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МЫ САМИ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960878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Всё, что делаем для себя, остаётся нашим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83096" y="3509518"/>
            <a:ext cx="4882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Зрители, права и лицензии не уходят заказчику. Каждый запуск для брендов оплачивает производство, а собственная библиотека растёт бесплатно.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III · ЛИЧНОСТЬ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160778"/>
            <a:ext cx="354482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8937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СТУПЕНЬ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0941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 на заказ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58058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 платит за серии. Деньги приходят сразу, права остаются у нас.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2160778"/>
            <a:ext cx="354482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238937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СТУПЕНЬ 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70941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Персонаж как подписка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258058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 платит за то, что персонаж живёт: выходит, отвечает, развивается. Выручка становится регулярной.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160778"/>
            <a:ext cx="3544824" cy="237744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238937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СТУПЕНЬ 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70941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Собственная библиотека прав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258058"/>
            <a:ext cx="2996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Лицензии, товары, игры и устройства. Персонаж перестаёт быть услугой и становится активом.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58258"/>
            <a:ext cx="11091672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041138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двадцати персонажей выстреливает один. Раньше двадцать попыток стоили как завод. Теперь — как машина.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III · ЛИЧНОСТЬ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03601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Персонаж — это не контент. Это имя, которому доверяют. Когда программы начнут работать и говорить с людьми, у них должны быть лица. Мы будем теми, кто их выдаёт.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5394960"/>
            <a:ext cx="1463040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IV · КАПИТАЛ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новый класс плательщиков рождал новую финансовую инфраструктуру.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44116"/>
            <a:ext cx="23957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21843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ЛЮДИ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58516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Банки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7670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47288" y="1944116"/>
            <a:ext cx="23957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3320" y="221843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КОМПАНИИ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858516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916168" y="27670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45936" y="1944116"/>
            <a:ext cx="239572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01968" y="221843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ЛЮДИ В ИНТЕРНЕТЕ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2858516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и PayPal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814816" y="27670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244584" y="1944116"/>
            <a:ext cx="2395728" cy="201168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00616" y="221843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ПРОГРАММЫ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500616" y="2858516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Океан Тех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8640" y="4321556"/>
            <a:ext cx="11091672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504436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Плательщик появляется раньше, чем инфраструктура под него.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IV · КАПИТАЛ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встаём между компанией и моделями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24076"/>
            <a:ext cx="333146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24076"/>
            <a:ext cx="2874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компании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971544" y="21269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28744" y="1624076"/>
            <a:ext cx="3331464" cy="13716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7344" y="1624076"/>
            <a:ext cx="2874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слой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851648" y="21269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08848" y="1624076"/>
            <a:ext cx="333146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37448" y="1624076"/>
            <a:ext cx="2874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ИИ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880104" y="3160268"/>
            <a:ext cx="4428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СЧИТАЕМ  ·  ОГРАНИЧИВАЕМ  ·  ВЫСТАВЛЯЕМ СЧЕТА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635756"/>
            <a:ext cx="5431536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391007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7330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специалистов по управлению ИТ-затратами занимаются расходами на ИИ. Год назад их было 63%.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08776" y="3635756"/>
            <a:ext cx="5431536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1384" y="391007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$2,59 трлн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501384" y="47330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мировые расходы на ИИ в 2026 году.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IV · КАПИТАЛ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тратит не так, как человек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49882"/>
            <a:ext cx="5463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ЧЕЛОВЕК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176772" y="1849882"/>
            <a:ext cx="5463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ПРОГРАММА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33930"/>
            <a:ext cx="54635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98522"/>
            <a:ext cx="5006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Тратит осознанно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6772" y="2233930"/>
            <a:ext cx="54635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5372" y="2398522"/>
            <a:ext cx="5006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понимает, что тратит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075178"/>
            <a:ext cx="54635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39770"/>
            <a:ext cx="5006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Ошибается на сотни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6772" y="3075178"/>
            <a:ext cx="54635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5372" y="3239770"/>
            <a:ext cx="5006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Ошибается на десятки тысяч за час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16426"/>
            <a:ext cx="54635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81018"/>
            <a:ext cx="5006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в конце месяца достаточен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6772" y="3916426"/>
            <a:ext cx="54635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5372" y="4081018"/>
            <a:ext cx="5006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Нужен запрет заранее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940554"/>
            <a:ext cx="11091672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123434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здесь не перевод денег, а разрешение на трату.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IV · КАПИТАЛ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уже движется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6916"/>
            <a:ext cx="2523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КОМПАНИЯ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236541" y="1486916"/>
            <a:ext cx="328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ПОКУПАТЕЛЬ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681434" y="1486916"/>
            <a:ext cx="227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КОГДА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17003" y="1486916"/>
            <a:ext cx="2523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СУММА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870964"/>
            <a:ext cx="252330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035556"/>
            <a:ext cx="2066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Metronome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6541" y="1870964"/>
            <a:ext cx="3280301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65141" y="2035556"/>
            <a:ext cx="28231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81434" y="1870964"/>
            <a:ext cx="227097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10034" y="2035556"/>
            <a:ext cx="1813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Январь 2026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17003" y="1870964"/>
            <a:ext cx="252330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45603" y="2035556"/>
            <a:ext cx="2066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около $1 млрд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2602484"/>
            <a:ext cx="252330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2767076"/>
            <a:ext cx="2066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Portkey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236541" y="2602484"/>
            <a:ext cx="3280301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65141" y="2767076"/>
            <a:ext cx="28231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 Networks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81434" y="2602484"/>
            <a:ext cx="227097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10034" y="2767076"/>
            <a:ext cx="1813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 2026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17003" y="2602484"/>
            <a:ext cx="252330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45603" y="2767076"/>
            <a:ext cx="2066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раскрыта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3334004"/>
            <a:ext cx="252330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3498596"/>
            <a:ext cx="2066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3236541" y="3334004"/>
            <a:ext cx="3280301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65141" y="3498596"/>
            <a:ext cx="28231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Adyen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681434" y="3334004"/>
            <a:ext cx="227097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10034" y="3498596"/>
            <a:ext cx="1813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Июль 2026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117003" y="3334004"/>
            <a:ext cx="252330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45603" y="3498596"/>
            <a:ext cx="2066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$335 млн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48640" y="4065524"/>
            <a:ext cx="252330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4230116"/>
            <a:ext cx="2066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Helicone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3236541" y="4065524"/>
            <a:ext cx="3280301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65141" y="4230116"/>
            <a:ext cx="28231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Mintlify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681434" y="4065524"/>
            <a:ext cx="2270978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10034" y="4230116"/>
            <a:ext cx="1813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Март 2026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9117003" y="4065524"/>
            <a:ext cx="252330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345603" y="4230116"/>
            <a:ext cx="20661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раскрыта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979924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за пять лет привлёк $44 млн и продан за $335 млн.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IV · КАПИТАЛ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320798"/>
            <a:ext cx="260146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49398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СТУПЕНЬ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69438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Расходы компании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18078"/>
            <a:ext cx="20528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Компания видит, куда уходят деньги на ИИ, в разрезе команд и задач.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78708" y="2320798"/>
            <a:ext cx="260146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3028" y="2549398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СТУПЕНЬ 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653028" y="2869438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каждой программы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53028" y="3418078"/>
            <a:ext cx="20528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программы появляется свой лимит и своё право на трату, а не общий счёт компании.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08776" y="2320798"/>
            <a:ext cx="260146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83096" y="2549398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СТУПЕНЬ 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83096" y="2869438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Программы платят наружу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3418078"/>
            <a:ext cx="20528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расплачивается с другой программой сама, без человека в середине.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38844" y="2320798"/>
            <a:ext cx="2601468" cy="292608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13164" y="2549398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СТУПЕНЬ 4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313164" y="2869438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13164" y="3418078"/>
            <a:ext cx="20528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из машин чей и кому можно верить. Тот, кто ведёт реестр, держит всю систему.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IV · КАПИТАЛ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03601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строим финансовую систему для машин.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Начинаем со счётчика, потому что за счётчик платят уже сегодня.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5394960"/>
            <a:ext cx="1463040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V · МЫ И СДЕЛКА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86916"/>
            <a:ext cx="543153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63322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Студия со сложными системами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44116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Финтех, высоконагруженные проекты, ИИ.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8776" y="1486916"/>
            <a:ext cx="543153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4808" y="163322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лет корпоративных продаж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1944116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США и ЕС: длинный цикл, закупки, безопасность.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20188"/>
            <a:ext cx="543153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266649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Собственные запущенные продукты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977388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живая аудитория, которая их смотрит.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08776" y="2520188"/>
            <a:ext cx="543153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4808" y="266649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Инженеры и отраслевые эксперты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2977388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Те, кто делал эту работу руками.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077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КОМАНДА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827780"/>
            <a:ext cx="35448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pic>
        <p:nvPicPr>
          <p:cNvPr id="20" name="Image 0" descr="_team/bw/penko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010660"/>
            <a:ext cx="904342" cy="10515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800454" y="3992372"/>
            <a:ext cx="21375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Пеньков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800454" y="4239260"/>
            <a:ext cx="21375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Генеральный директор, основатель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800454" y="4577588"/>
            <a:ext cx="21375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с опытом в технологиях. Buckswood School, МИРБИС, MBA при МГИМО.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322064" y="3827780"/>
            <a:ext cx="35448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pic>
        <p:nvPicPr>
          <p:cNvPr id="25" name="Image 1" descr="_team/bw/morosh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944" y="4010660"/>
            <a:ext cx="904342" cy="105156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573878" y="3992372"/>
            <a:ext cx="21375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Константин Морошин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573878" y="4239260"/>
            <a:ext cx="21375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Центра исследований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5573878" y="4577588"/>
            <a:ext cx="21375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Исследователь UX в B2B ИТ. 10+ лет корпоративных продаж ИТ.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8095488" y="3827780"/>
            <a:ext cx="35448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pic>
        <p:nvPicPr>
          <p:cNvPr id="30" name="Image 2" descr="_team/bw/kovale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368" y="4010660"/>
            <a:ext cx="904342" cy="105156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347302" y="3992372"/>
            <a:ext cx="21375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Сергей Ковалёв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9347302" y="4239260"/>
            <a:ext cx="21375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Управляющий партнёр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9347302" y="4577588"/>
            <a:ext cx="21375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и стратег с опытом в области ИИ и Web3.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V · МЫ И СДЕЛКА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сделано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457958"/>
            <a:ext cx="3544824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732278"/>
            <a:ext cx="2959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600 000 €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555238"/>
            <a:ext cx="2959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студии в год. Она платит за команду и даёт нам право строить вдолгую.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2064" y="2457958"/>
            <a:ext cx="3544824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4672" y="2732278"/>
            <a:ext cx="2959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серии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14672" y="3555238"/>
            <a:ext cx="2959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собственных сериалов выпущено, 380 000 просмотров первой серии.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5488" y="2457958"/>
            <a:ext cx="3544824" cy="265176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8096" y="2732278"/>
            <a:ext cx="2959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брендов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88096" y="3555238"/>
            <a:ext cx="2959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переговорах о собственном персонаже.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V · МЫ И СДЕЛКА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на 12 месяцев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366518"/>
            <a:ext cx="354482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9511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МАРТ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1515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Персонажи: 8 платящих брендов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63798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 поставлено на поток, персонаж-подписка продан восьми брендам. Направление кормит себя само.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2366518"/>
            <a:ext cx="354482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259511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ИЮНЬ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91515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ИИ-сотрудник в работе у 5 клиентов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3463798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Отраслевой сотрудник закрывает роль у пяти компаний, результат принимают их собственные люди.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2366518"/>
            <a:ext cx="3544824" cy="283464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2595118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ДЕКАБРЬ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91515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2,5 млн €, третье направление запущено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3463798"/>
            <a:ext cx="29961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Учёт расходов на ИИ работает у первых компаний. Все три института живые.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ЧАСТЬ V · МЫ И СДЕЛКА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16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на три года — $10 млн.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транш — $1,5 млн, 6 месяцев.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3296"/>
            <a:ext cx="35448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61896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 ЧТО ПЕРВЫЙ ТРАНШ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1936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12 человек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0576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Персонажи — до 8 платящих брендов. Запуск ИИ-сотрудника в отрасли, где у нас есть доступ к клиентам.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064" y="1733296"/>
            <a:ext cx="35448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6384" y="1961896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ПОКАЖЕМ ЧЕРЕЗ ПОЛГОДА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2281936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Выручка, клиенты, стоимость запуска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830576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стоит запустить продукт, сколько он приносит и как быстро повторяется — на собственных цифрах, а не в презентации.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5488" y="1733296"/>
            <a:ext cx="3544824" cy="27432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9808" y="1961896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ПОЛНАЯ ПРОГРАММА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2281936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института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830576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30–50 человек и выход на рынок США.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59376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Константин Морошин · Океан Тех · sales@okeantech.ru · okeantech.ru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2026-09-08T06:56:20Z</dcterms:created>
  <dcterms:modified xsi:type="dcterms:W3CDTF">2026-09-08T06:56:20Z</dcterms:modified>
</cp:coreProperties>
</file>