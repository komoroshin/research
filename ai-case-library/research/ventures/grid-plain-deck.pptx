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Одна фраза — кто мы. «Вдвое» — цель первого этапа, не факт: если спросят «уже делаете?» — «измеряем на первых проектах, это и есть первый шаг».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LBNL Queued Up 2026: медиана ожидания 61 месяц, в очереди 2061 ГВт. DOE USEER 2025: 89% работодателей в строительстве сетей испытывают трудности найма. Источники — на последнем слайде.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Слайд-словарь: снимает три термина один раз, чтобы дальше не объяснять. Если аудитория профильная — пропустить.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 говорить «уникальная технология». Аналогия, если спросят «почему не софт»: софт в энергетике раздают бесплатно (Tesla, регуляторы), подпись и клиентов бесплатно не раздашь.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Стадию строительства, приёмку и роботов не грузить сюда — это в приложении «если спросят».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Первые продажи — субподряд у крупных подрядчиков, потом прямые контракты. Гиперскейлеров по имени не называть. Число для справки: в очереди США 2061 ГВт — больше действующей генерации страны.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Финмодель: базовый сценарий ×1,5 к выработке, маржа 24%; при ×1,2 — убыток, это критерий остановки. Цена покупки 0,8–1,2× выручки — допущение. Не обещать «вдвое» как факт.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WSP → POWER Engineers 1,78 млрд $ / 4000 сотрудников ≈ 445 тыс. $ за голову — цена по американским ставкам, направление рынка, не наш мультипликатор на выходе. 70 тыс. $ — допущение финмодели (покупка за годовую выручку). Оценка рынка одной страны: ~450 млн $ инжиниринга в год в КСА (3% от 15 млрд $) — говорить как «порядок».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 называть выручку года 5 как «будет». Если спросят «когда тысяча инженеров?» — «после того, как пять фирм покажут одно ядро и одну маржу».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Факты из корпоративной презентации Океан Тех (2026): 48 проектов, 32 клиента, 64 сотрудника, 7 отраслей; Центр исследований основан в 2025, 14 исследователей; фреймворк — 59% сокращения сроков; публикации Inc., RTVI, TAdviser. 277 кейсов — база Центра исследований.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Биографии — из корпоративной презентации Океан Тех. Честный ответ на «вы проектировали подстанции?» — нет, поэтому первая покупка и первый найм — инженер-партнёр с лицензией; ИИ и метод — наши.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Потребность по финмодели ~21 млн $ против 30 — остальное запас на дороже купленные фирмы или третий рынок; сказать самому. Не брать 30 сразу — транши защищают обе стороны.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Раскрывать только по вопросу. Роботы — не Индия и не США; академия — требования аккредитации не проверены; данные — права на данные в контрактах с первого дня.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9167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Мы покупаем небольшие инженерные компании, которые проектируют подключение к электросети, и с помощью ИИ делаем их вдвое производительнее.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319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Таких инженеров не хватает во всём мире — и это главный тормоз для дата-центров и новой энергетики.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937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5F7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Электричество — новая нефть эпохи ИИ. Мы строим тех, кто её добывает.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035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РАУНД 30 МЛН $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9811512" y="6035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A8E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· ПРОБЛЕМА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Дата-центры и электростанции годами ждут подключения к сети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E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/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431536" cy="2011680"/>
          </a:xfrm>
          <a:prstGeom prst="roundRect">
            <a:avLst>
              <a:gd name="adj" fmla="val 8182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377440"/>
            <a:ext cx="4791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лет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246120"/>
            <a:ext cx="47914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ждёт подключения к сети новый дата-центр в США. Видеокарты покупают за месяцы, здание строят за два года — а провод ждут пять лет.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08776" y="2103120"/>
            <a:ext cx="5431536" cy="2011680"/>
          </a:xfrm>
          <a:prstGeom prst="roundRect">
            <a:avLst>
              <a:gd name="adj" fmla="val 8182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28816" y="2377440"/>
            <a:ext cx="4791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6528816" y="3246120"/>
            <a:ext cx="47914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компаний, которые строят электросети, не могут найти инженеров. Проект подключения по закону подписывает лицензированный инженер — и их нет.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43484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Мегаватты ждут не железа. Они ждут людей: пока нет проекта с подписью инженера, ничего не строится — ни в США, ни в Заливе, ни в Индии.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48640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046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Мир строит искусственный интеллект — и упирается в розетку.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32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ТРИ СЛОВА, КОТОРЫЕ НУЖНО ЗНАТЬ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Дальше будет всего три специальных слова — вот что они значат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/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544824" cy="2377440"/>
          </a:xfrm>
          <a:prstGeom prst="roundRect">
            <a:avLst>
              <a:gd name="adj" fmla="val 6923"/>
            </a:avLst>
          </a:prstGeom>
          <a:solidFill>
            <a:srgbClr val="343434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33172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51760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Подключение к сети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108960"/>
            <a:ext cx="29961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Линия от дата-центра или электростанции до общей сети. Пока её нет, объект стоит — какие бы серверы внутри ни были.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22064" y="2103120"/>
            <a:ext cx="3544824" cy="2377440"/>
          </a:xfrm>
          <a:prstGeom prst="roundRect">
            <a:avLst>
              <a:gd name="adj" fmla="val 6923"/>
            </a:avLst>
          </a:prstGeom>
          <a:solidFill>
            <a:srgbClr val="343434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96384" y="233172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596384" y="2651760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Подстанция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96384" y="3108960"/>
            <a:ext cx="29961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Узел, через который объект подключают к сети. Каждую подстанцию надо спроектировать, построить и принять.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95488" y="2103120"/>
            <a:ext cx="3544824" cy="2377440"/>
          </a:xfrm>
          <a:prstGeom prst="roundRect">
            <a:avLst>
              <a:gd name="adj" fmla="val 6923"/>
            </a:avLst>
          </a:prstGeom>
          <a:solidFill>
            <a:srgbClr val="343434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69808" y="233172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8369808" y="2651760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Подпись инженера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69808" y="3108960"/>
            <a:ext cx="29961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закону проект подстанции подписывает лицензированный инженер. Без подписи сетевая компания проект не примет.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84632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Всё остальное — обычные слова: компания, клиент, проект, выручка.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A8E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· РЕШЕНИЕ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Покупаем инженерную компанию с лицензией — и даём её инженерам искусственный интеллект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E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/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544824" cy="2286000"/>
          </a:xfrm>
          <a:prstGeom prst="roundRect">
            <a:avLst>
              <a:gd name="adj" fmla="val 7200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33172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ШАГ 1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51760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Покупаем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108960"/>
            <a:ext cx="2996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Небольшую инженерную фирму с лицензией и клиентами — там, где строят больше всего: Персидский залив, Индия.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22064" y="2103120"/>
            <a:ext cx="3544824" cy="2286000"/>
          </a:xfrm>
          <a:prstGeom prst="roundRect">
            <a:avLst>
              <a:gd name="adj" fmla="val 7200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96384" y="233172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ШАГ 2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596384" y="2651760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Ускоряем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96384" y="3108960"/>
            <a:ext cx="2996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 ИИ делает расчёты и чертежи, инженер проверяет и подписывает. Тот же штат делает вдвое больше проектов.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95488" y="2103120"/>
            <a:ext cx="3544824" cy="2286000"/>
          </a:xfrm>
          <a:prstGeom prst="roundRect">
            <a:avLst>
              <a:gd name="adj" fmla="val 7200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69808" y="233172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ШАГ 3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8369808" y="2651760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Повторяем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69808" y="3108960"/>
            <a:ext cx="2996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Вторая фирма, третья, пятая. Один ИИ на всех — и с каждым проектом он становится лучше.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70916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Мы не заменяем инженеров — мы делаем так, чтобы их хватало.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34924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046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Покупаем подпись. Ставим ИИ. Повторяем.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89788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«Вдвое» — цель первого этапа, проверяем на первых проектах.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32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· КАК ЭТО РАБОТАЕТ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 приносит площадку — и получает одобренный проект вдвое быстрее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/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544824" cy="2194560"/>
          </a:xfrm>
          <a:prstGeom prst="roundRect">
            <a:avLst>
              <a:gd name="adj" fmla="val 7500"/>
            </a:avLst>
          </a:prstGeom>
          <a:solidFill>
            <a:srgbClr val="343434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33172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51760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Заявка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108960"/>
            <a:ext cx="2996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Девелопер дата-центра или электростанции приходит с площадкой и нужной мощностью.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22064" y="2103120"/>
            <a:ext cx="3544824" cy="2194560"/>
          </a:xfrm>
          <a:prstGeom prst="roundRect">
            <a:avLst>
              <a:gd name="adj" fmla="val 7500"/>
            </a:avLst>
          </a:prstGeom>
          <a:solidFill>
            <a:srgbClr val="343434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96384" y="233172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596384" y="2651760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96384" y="3108960"/>
            <a:ext cx="2996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 считает схему и чертит подстанцию, инженер проверяет и подписывает.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95488" y="2103120"/>
            <a:ext cx="3544824" cy="2194560"/>
          </a:xfrm>
          <a:prstGeom prst="roundRect">
            <a:avLst>
              <a:gd name="adj" fmla="val 7500"/>
            </a:avLst>
          </a:prstGeom>
          <a:solidFill>
            <a:srgbClr val="343434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69808" y="233172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8369808" y="2651760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Одобрение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69808" y="3108960"/>
            <a:ext cx="2996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Сетевая компания принимает проект — можно строить. Клиент получил месяцы, а не бумагу.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61772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 платит за срок: месяц простоя готового дата-центра стоит дороже всего проекта. Поэтому он покупает у того, кто делает быстрее, — а не у того, кто дешевле.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A8E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· КТО ПЛАТИТ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 клиент — каждый, кто стоит в очереди на подключение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E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/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544824" cy="2286000"/>
          </a:xfrm>
          <a:prstGeom prst="roundRect">
            <a:avLst>
              <a:gd name="adj" fmla="val 7200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33172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КЛИЕНТ 1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51760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Дата-центры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108960"/>
            <a:ext cx="2996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Самые нетерпеливые: у них уже куплены серверы. Покупают срок.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22064" y="2103120"/>
            <a:ext cx="3544824" cy="2286000"/>
          </a:xfrm>
          <a:prstGeom prst="roundRect">
            <a:avLst>
              <a:gd name="adj" fmla="val 7200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96384" y="233172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КЛИЕНТ 2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596384" y="2651760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Станции и накопители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96384" y="3108960"/>
            <a:ext cx="2996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Солнце, ветер, батареи — основная масса очереди. Десятки проектов у одного девелопера.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95488" y="2103120"/>
            <a:ext cx="3544824" cy="2286000"/>
          </a:xfrm>
          <a:prstGeom prst="roundRect">
            <a:avLst>
              <a:gd name="adj" fmla="val 7200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69808" y="233172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КЛИЕНТ 3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8369808" y="2651760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Крупные подрядчики и сети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69808" y="3108960"/>
            <a:ext cx="2996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 не хватает инженеров под собственные программы. Покупают наши часы оптом.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70916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Начинаем с Персидского залива и Индии: там строят больше всего, туда пускают, и там инженеры дешевле. США и Европа — позже и через партнёров.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32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· БИЗНЕС-МОДЕЛЬ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Зарабатываем как инженерная фирма — только заметно больше с тех же людей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431536" cy="2286000"/>
          </a:xfrm>
          <a:prstGeom prst="roundRect">
            <a:avLst>
              <a:gd name="adj" fmla="val 7200"/>
            </a:avLst>
          </a:prstGeom>
          <a:solidFill>
            <a:srgbClr val="343434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331720"/>
            <a:ext cx="479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ФИРМА ДО ПОКУПКИ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97480"/>
            <a:ext cx="4791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2,8 млн $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566160"/>
            <a:ext cx="4791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выручки в год · 40 инженеров · обычная маржа инженерного бюро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08776" y="2103120"/>
            <a:ext cx="5431536" cy="2286000"/>
          </a:xfrm>
          <a:prstGeom prst="roundRect">
            <a:avLst>
              <a:gd name="adj" fmla="val 7200"/>
            </a:avLst>
          </a:prstGeom>
          <a:solidFill>
            <a:srgbClr val="2C3A1C"/>
          </a:solidFill>
          <a:ln w="12700">
            <a:solidFill>
              <a:srgbClr val="2C3A1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28816" y="2331720"/>
            <a:ext cx="479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ТА ЖЕ ФИРМА С НАШИМ ИИ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6528816" y="2697480"/>
            <a:ext cx="4791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D5F7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 млн $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6528816" y="3566160"/>
            <a:ext cx="4791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выручки в год · те же 40 инженеров · маржа 24%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66344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 платит рыночную цену за проект, который получает быстрее. Мы платим тем же инженерам ту же зарплату. Разница между старой и новой выработкой — наша прибыль.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76072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Базовый сценарий финмодели: рост выработки в полтора раза, цель — вдвое; покупка фирмы за годовую выручку. Финмодель с тремя сценариями прилагается.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A8E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· РЫНОК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инженеров, которые проектируют сети, уже платят миллиарды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E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/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431536" cy="2011680"/>
          </a:xfrm>
          <a:prstGeom prst="roundRect">
            <a:avLst>
              <a:gd name="adj" fmla="val 8182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377440"/>
            <a:ext cx="4791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1,78 млрд $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246120"/>
            <a:ext cx="47914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заплатила WSP, мировой инженерный гигант, за компанию из 4000 таких инженеров в 2024 году. Через год — ещё 3,3 млрд $ за следующую.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08776" y="2103120"/>
            <a:ext cx="5431536" cy="2011680"/>
          </a:xfrm>
          <a:prstGeom prst="roundRect">
            <a:avLst>
              <a:gd name="adj" fmla="val 8182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28816" y="2377440"/>
            <a:ext cx="4791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млрд $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6528816" y="3246120"/>
            <a:ext cx="47914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контрактов на сети и подстанции за один год выдала Саудовская Аравия. Там строят, туда пускают, и там не хватает инженеров.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43484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Стратег платит за одного инженера 445 тысяч долларов. Мы покупаем небольшую фирму по цене около 70 тысяч за инженера — там, где инженеры есть и дёшевы.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48640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046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Разница в цене — и есть сделка.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32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· ПЛАН РАЗВИТИЯ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Год 1 — первая фирма. Год 3 — пять фирм. Потом — продажа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/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544824" cy="2286000"/>
          </a:xfrm>
          <a:prstGeom prst="roundRect">
            <a:avLst>
              <a:gd name="adj" fmla="val 7200"/>
            </a:avLst>
          </a:prstGeom>
          <a:solidFill>
            <a:srgbClr val="343434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33172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ГОД 1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51760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Первая фирма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108960"/>
            <a:ext cx="2996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 работает на реальных проектах. Куплена первая компания на 20–50 инженеров. Проекты — вдвое быстрее.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22064" y="2103120"/>
            <a:ext cx="3544824" cy="2286000"/>
          </a:xfrm>
          <a:prstGeom prst="roundRect">
            <a:avLst>
              <a:gd name="adj" fmla="val 7200"/>
            </a:avLst>
          </a:prstGeom>
          <a:solidFill>
            <a:srgbClr val="343434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96384" y="233172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ГОДЫ 2–3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596384" y="2651760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Пять фирм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96384" y="3108960"/>
            <a:ext cx="2996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инженеров, один ИИ на всех, 20 млн $ выручки в год.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95488" y="2103120"/>
            <a:ext cx="3544824" cy="2286000"/>
          </a:xfrm>
          <a:prstGeom prst="roundRect">
            <a:avLst>
              <a:gd name="adj" fmla="val 7200"/>
            </a:avLst>
          </a:prstGeom>
          <a:solidFill>
            <a:srgbClr val="343434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69808" y="233172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ГОДЫ 4–5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8369808" y="2651760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Продажа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69808" y="3108960"/>
            <a:ext cx="2996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Группа на 500 инженеров. Покупатель — те, кто уже платит за инженеров миллиарды: WSP, Stantec, Cyient.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70916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Первый, кто соберёт такую группу, станет консолидатором отрасли.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39496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Годы 2–5 — цели, не прогноз. Ориентиры масштаба — сделки-аналоги.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A8E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· КТО МЫ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Океан Тех — компания, которая исследует искусственный интеллект и строит решения для бизнеса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E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2601468" cy="1737360"/>
          </a:xfrm>
          <a:prstGeom prst="roundRect">
            <a:avLst>
              <a:gd name="adj" fmla="val 947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286000"/>
            <a:ext cx="20528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17520"/>
            <a:ext cx="20528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проектов реализовано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78708" y="2103120"/>
            <a:ext cx="2601468" cy="1737360"/>
          </a:xfrm>
          <a:prstGeom prst="roundRect">
            <a:avLst>
              <a:gd name="adj" fmla="val 947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53028" y="2286000"/>
            <a:ext cx="20528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3653028" y="3017520"/>
            <a:ext cx="20528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клиента из разных отраслей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08776" y="2103120"/>
            <a:ext cx="2601468" cy="1737360"/>
          </a:xfrm>
          <a:prstGeom prst="roundRect">
            <a:avLst>
              <a:gd name="adj" fmla="val 947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83096" y="2286000"/>
            <a:ext cx="20528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483096" y="3017520"/>
            <a:ext cx="20528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человека в штате: исследователи, инженеры, продуктовые дизайнеры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038844" y="2103120"/>
            <a:ext cx="2601468" cy="1737360"/>
          </a:xfrm>
          <a:prstGeom prst="roundRect">
            <a:avLst>
              <a:gd name="adj" fmla="val 947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13164" y="2286000"/>
            <a:ext cx="20528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9313164" y="3017520"/>
            <a:ext cx="20528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отраслей фокуса: финансы, медицина, производство, e-commerce и другие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114800"/>
            <a:ext cx="107259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Центр исследований </a:t>
            </a:r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изучает поведение языковых моделей и агентов на реальных задачах бизнеса: 14 исследователей и ML-инженеров, база из 277 верифицированных кейсов ИИ. Это он за день проверил одиннадцать гипотез и оставил одну.</a:t>
            </a:r>
            <a:endParaRPr lang="en-US" sz="13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Департамент разработки </a:t>
            </a:r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строит и внедряет ИИ в сложных системах — от высоконагруженных сервисов до корпоративных внедрений. Собственный фреймворк сокращает сроки создания и интеграции решений на 59%.</a:t>
            </a:r>
            <a:endParaRPr lang="en-US" sz="13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нас пишут </a:t>
            </a:r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Inc., RTVI, TAdviser — методы, данные и разбор реальных внедрений.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A8E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· КОМАНДА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Управленческая дисциплина, понимание задач бизнеса и инженерный уровень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E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544824" cy="3794760"/>
          </a:xfrm>
          <a:prstGeom prst="roundRect">
            <a:avLst>
              <a:gd name="adj" fmla="val 4643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pic>
        <p:nvPicPr>
          <p:cNvPr id="7" name="Image 0" descr="/tmp/claude-0/-home-user/5ac64fc3-708b-5ba2-8575-a96a48f05f03/scratchpad/okean/penko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31720"/>
            <a:ext cx="1612087" cy="18745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4343400"/>
            <a:ext cx="2996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Дмитрий Пеньков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66344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46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Генеральный директор, основатель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983480"/>
            <a:ext cx="2996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Предприниматель с опытом в технологиях. Buckswood School (Англия), МИРБИС, экономический лицей МБИ им. А. Собчака, MBA при МГИМО.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22064" y="2103120"/>
            <a:ext cx="3544824" cy="3794760"/>
          </a:xfrm>
          <a:prstGeom prst="roundRect">
            <a:avLst>
              <a:gd name="adj" fmla="val 4643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pic>
        <p:nvPicPr>
          <p:cNvPr id="12" name="Image 1" descr="/tmp/claude-0/-home-user/5ac64fc3-708b-5ba2-8575-a96a48f05f03/scratchpad/okean/morosh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6384" y="2331720"/>
            <a:ext cx="1612087" cy="18745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96384" y="4343400"/>
            <a:ext cx="2996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Константин Морошин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596384" y="466344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46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Глава Центра исследований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4596384" y="4983480"/>
            <a:ext cx="2996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Исследователь UX в B2B ИТ. Проекты для МТС Ред, КРОК, Инностейдж, Сбера. Более 10 лет продаж ИТ в энтерпрайзе.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095488" y="2103120"/>
            <a:ext cx="3544824" cy="3794760"/>
          </a:xfrm>
          <a:prstGeom prst="roundRect">
            <a:avLst>
              <a:gd name="adj" fmla="val 4643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pic>
        <p:nvPicPr>
          <p:cNvPr id="17" name="Image 2" descr="/tmp/claude-0/-home-user/5ac64fc3-708b-5ba2-8575-a96a48f05f03/scratchpad/okean/kovalev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9808" y="2331720"/>
            <a:ext cx="1612087" cy="18745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69808" y="4343400"/>
            <a:ext cx="2996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Сергей Ковалёв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8369808" y="466344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46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Управляющий партнёр</a:t>
            </a:r>
            <a:endParaRPr lang="en-US" sz="1150" dirty="0"/>
          </a:p>
        </p:txBody>
      </p:sp>
      <p:sp>
        <p:nvSpPr>
          <p:cNvPr id="20" name="Text 15"/>
          <p:cNvSpPr txBox="1"/>
          <p:nvPr/>
        </p:nvSpPr>
        <p:spPr>
          <a:xfrm>
            <a:off x="8369808" y="4983480"/>
            <a:ext cx="2996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Предприниматель и стратег с обширным опытом в области искусственного интеллекта и Web3.</a:t>
            </a:r>
            <a:endParaRPr lang="en-US" sz="105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603504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60+ человек в штате: исследователи, инженеры, продуктовые дизайнеры. Чего в команде пока нет и кого добавляем первым — инженер-партнёр с лицензией на целевом рынке.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32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ЧТО ПРОСИМ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млн $: десять — на ИИ и первую фирму, двадцать — на покупку ещё четырёх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544824" cy="2103120"/>
          </a:xfrm>
          <a:prstGeom prst="roundRect">
            <a:avLst>
              <a:gd name="adj" fmla="val 7826"/>
            </a:avLst>
          </a:prstGeom>
          <a:solidFill>
            <a:srgbClr val="343434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33172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ТРАНШ 1 · 3 МЛН $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51760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Полгода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108960"/>
            <a:ext cx="2996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 на реальных проектах, первые оплаченные работы, выбрана фирма для покупки.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22064" y="2103120"/>
            <a:ext cx="3544824" cy="2103120"/>
          </a:xfrm>
          <a:prstGeom prst="roundRect">
            <a:avLst>
              <a:gd name="adj" fmla="val 7826"/>
            </a:avLst>
          </a:prstGeom>
          <a:solidFill>
            <a:srgbClr val="343434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96384" y="233172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ТРАНШ 2 · 7 МЛН $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596384" y="2651760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Первая фирма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96384" y="3108960"/>
            <a:ext cx="2996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Покупка, интеграция ИИ, выручка фирмы плюс половина при том же штате.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95488" y="2103120"/>
            <a:ext cx="3544824" cy="2103120"/>
          </a:xfrm>
          <a:prstGeom prst="roundRect">
            <a:avLst>
              <a:gd name="adj" fmla="val 7826"/>
            </a:avLst>
          </a:prstGeom>
          <a:solidFill>
            <a:srgbClr val="343434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69808" y="233172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ТРАНШ 3 · 20 МЛН $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8369808" y="2651760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Ещё четыре фирмы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69808" y="3108960"/>
            <a:ext cx="2996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Каждая приходит с клиентами и выручкой. 200 инженеров и 20 млн $ в год к концу третьего года.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52628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Первый шаг — 250 тысяч долларов и восемь недель: два пилотных проекта. Если ИИ не даёт вдвое, вы узнаете это первым.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39496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D5F7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Двадцать из тридцати миллионов — не в сжигание, а в покупку готовой выручки.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9436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Константин Морошин · Океан Тех · sales@okeantech.ru · okeantech.ru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A8E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ПРИЛОЖЕНИЕ · ЕСЛИ СПРОСЯТ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ещё умеет та же компания — опционы, не обещания раунда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E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2601468" cy="2651760"/>
          </a:xfrm>
          <a:prstGeom prst="roundRect">
            <a:avLst>
              <a:gd name="adj" fmla="val 6327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331720"/>
            <a:ext cx="20528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ОПЦИОН 1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51760"/>
            <a:ext cx="2052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Роботы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108960"/>
            <a:ext cx="20528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Роботы-инспекторы на подстанциях, которые мы спроектировали. Китайская сетевая компания State Grid покупает 8500 роботов в год; поставщик — DEEP Robotics. Годы 3–5.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378708" y="2103120"/>
            <a:ext cx="2601468" cy="2651760"/>
          </a:xfrm>
          <a:prstGeom prst="roundRect">
            <a:avLst>
              <a:gd name="adj" fmla="val 6327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3028" y="2331720"/>
            <a:ext cx="20528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ОПЦИОН 2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3653028" y="2651760"/>
            <a:ext cx="2052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Стройка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653028" y="3108960"/>
            <a:ext cx="20528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Инженер, который проектировал, сопровождает стройку и приёмку: ещё 15–35% к гонорару с того же проекта.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08776" y="2103120"/>
            <a:ext cx="2601468" cy="2651760"/>
          </a:xfrm>
          <a:prstGeom prst="roundRect">
            <a:avLst>
              <a:gd name="adj" fmla="val 6327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83096" y="2331720"/>
            <a:ext cx="20528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ОПЦИОН 3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6483096" y="2651760"/>
            <a:ext cx="2052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Обучение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83096" y="3108960"/>
            <a:ext cx="20528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Обучение инженеров под квоты: Саудовская Аравия требует 30% граждан на инженерных позициях. Наш ИИ быстро доводит выпускника до рабочего инженера.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038844" y="2103120"/>
            <a:ext cx="2601468" cy="2651760"/>
          </a:xfrm>
          <a:prstGeom prst="roundRect">
            <a:avLst>
              <a:gd name="adj" fmla="val 6327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313164" y="2331720"/>
            <a:ext cx="20528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ОПЦИОН 4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9313164" y="2651760"/>
            <a:ext cx="2052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313164" y="3108960"/>
            <a:ext cx="20528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База данных о подключениях: сотни проектов в год — данные, которых нет ни у кого. Enverus купил Pearl Street именно за такие данные.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02920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выручку раунда заложено только проектирование. Остальное вводим по одному и только после измерения.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A8E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ПРИЛОЖЕНИЕ · ИСТОЧНИКИ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Откуда цифры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E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14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1109167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лет / 61 месяц; 2061 ГВт — LBNL, Queued Up: 2026 Edition.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 работодателей — DOE, U.S. Energy &amp; Employment Report 2025. Вакансия 6–9 мес. — IEEE Spectrum, 10.2025.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1,78 млрд $ / 4000 сотрудников — WSP → POWER Engineers, пресс-релиз, 10.2024. 3,3 млрд $ — WSP → TRC, ENR.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млрд $ контрактов КСА за 2025 — trade.gov. Около 100 подстанций в год — отчётность Saudi Electricity 2025–2026.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445 тыс. $ за инженера — 1,78 млрд $ / 4000; 70 тыс. $ — допущение финмодели (покупка за годовую выручку, 60–80 тыс. $ на инженера).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2,8 → 4,2 млн $, маржа 24% — финмодель, базовый сценарий (рост выработки ×1,5); доля инжиниринга ≈3% CAPEX — MISO Transmission Cost Estimation Guide.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8500 роботов — Caixin, SCMP (план State Grid на 2026); DEEP Robotics — проспект IPO. Стадия строительства 15–35% — ACEC-BC, WA OFM.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саудизации — HRSD КСА № 103105 от 26.01.2025. Enverus → Pearl Street — 03.2025.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Годы 2–5, 200 и 500 инженеров, 20 млн $ — цели, не прогноз.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2026-09-02T11:51:51Z</dcterms:created>
  <dcterms:modified xsi:type="dcterms:W3CDTF">2026-09-02T11:51:51Z</dcterms:modified>
</cp:coreProperties>
</file>