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Одна фраза — кто мы. «Вдвое» — цель первого этапа, не факт: если спросят «уже делаете?» — «измеряем на первых проектах, это и есть первый шаг».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LBNL Queued Up 2026: медиана ожидания 61 месяц, в очереди 2061 ГВт. DOE USEER 2025: 89% работодателей в строительстве сетей испытывают трудности найма. Источники — на последнем слайде.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Слайд-словарь: снимает три термина один раз, чтобы дальше не объяснять. Если аудитория профильная — пропустить.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Не говорить «уникальная технология». Аналогия, если спросят «почему не софт»: софт в энергетике раздают бесплатно (Tesla, регуляторы), подпись и клиентов бесплатно не раздашь.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Стадию строительства, приёмку и роботов не грузить сюда — это в приложении «если спросят».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Первые продажи — субподряд у крупных подрядчиков, потом прямые контракты. Гиперскейлеров по имени не называть. Число для справки: в очереди США 2061 ГВт — больше действующей генерации страны.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Финмодель: базовый сценарий ×1,5 к выработке, маржа 24%; при ×1,2 — убыток, это критерий остановки. Цена покупки 0,8–1,2× выручки — допущение. Не обещать «вдвое» как факт.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WSP → POWER Engineers 1,78 млрд $ / 4000 сотрудников ≈ 445 тыс. $ за голову — цена по американским ставкам, направление рынка, не наш мультипликатор на выходе. 70 тыс. $ — допущение финмодели (покупка за годовую выручку). Оценка рынка одной страны: ~450 млн $ инжиниринга в год в КСА (3% от 15 млрд $) — говорить как «порядок».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Не называть выручку года 5 как «будет». Если спросят «когда тысяча инженеров?» — «после того, как пять фирм покажут одно ядро и одну маржу».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Факты из корпоративной презентации Океан Тех (2026): 48 проектов, 32 клиента, 64 сотрудника, 7 отраслей; Центр исследований основан в 2025, 14 исследователей; фреймворк — 59% сокращения сроков; публикации Inc., RTVI, TAdviser. 277 кейсов — база Центра исследований.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Биографии — из корпоративной презентации Океан Тех. Честный ответ на «вы проектировали подстанции?» — нет, поэтому первая покупка и первый найм — инженер-партнёр с лицензией; ИИ и метод — наши.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Риски названы до того, как инвестор их спросит. Консервативный сценарий финмодели (×1,2) убыточен — это критерий остановки, и он встроен в первый шаг.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Потребность по финмодели ~21 млн $ против 30 — остальное запас на дороже купленные фирмы или третий рынок; сказать самому. Не брать 30 сразу — транши защищают обе стороны.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Раскрывать только по вопросу. Роботы — не Индия и не США; академия — требования аккредитации не проверены; данные — права на данные в контрактах с первого дня.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167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Электричество — новая нефть эпохи ИИ.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Мы строим тех, кто её добывает.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74904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Покупаем небольшие инженерные компании, которые проектируют подключение к электросети, и с помощью ИИ делаем их в полтора-два раза производительнее.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80060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Таких инженеров не хватает во всём мире — это один из главных тормозов для дата-центров и новой энергетики.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035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РАУНД 30 МЛН $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9811512" y="6035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· ПРОБЛЕМА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3152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Дата-центры годами ждут подключения — а проекты для них некому подписать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/ 15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5431536" cy="2011680"/>
          </a:xfrm>
          <a:prstGeom prst="roundRect">
            <a:avLst>
              <a:gd name="adj" fmla="val 8182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2377440"/>
            <a:ext cx="4791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лет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3246120"/>
            <a:ext cx="47914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ждёт подключения к сети новый дата-центр в США. Видеокарты покупают за месяцы, здание строят за два года — а провод ждут пять лет.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08776" y="2103120"/>
            <a:ext cx="5431536" cy="2011680"/>
          </a:xfrm>
          <a:prstGeom prst="roundRect">
            <a:avLst>
              <a:gd name="adj" fmla="val 8182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28816" y="2377440"/>
            <a:ext cx="4791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89%</a:t>
            </a:r>
            <a:endParaRPr lang="en-US" sz="4400" dirty="0"/>
          </a:p>
        </p:txBody>
      </p:sp>
      <p:sp>
        <p:nvSpPr>
          <p:cNvPr id="11" name="Text 9"/>
          <p:cNvSpPr txBox="1"/>
          <p:nvPr/>
        </p:nvSpPr>
        <p:spPr>
          <a:xfrm>
            <a:off x="6528816" y="3246120"/>
            <a:ext cx="47914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компаний, которые строят электросети, не могут найти инженеров. Проект подключения по закону подписывает лицензированный инженер — и их нет.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343400"/>
            <a:ext cx="1072591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Пять лет — это очередь, проверки сети, оборудование. Мы не сокращаем очередь целиком. Мы снимаем один тормоз внутри неё: проект с подписью инженера, без которого ничего не строится, а инженеров на всех не хватает — ни в США, ни в Заливе, ни в Индии.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486400"/>
            <a:ext cx="10725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046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Мир строит искусственный интеллект — и упирается в розетку.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32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ТРИ СЛОВА, КОТОРЫЕ НУЖНО ЗНАТЬ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3152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Дальше будет всего три специальных слова — вот что они значат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/ 15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3544824" cy="2377440"/>
          </a:xfrm>
          <a:prstGeom prst="roundRect">
            <a:avLst>
              <a:gd name="adj" fmla="val 6923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Подключение к сети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108960"/>
            <a:ext cx="29961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Линия от дата-центра или электростанции до общей сети. Пока её нет, объект стоит — какие бы серверы внутри ни были.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22064" y="2103120"/>
            <a:ext cx="3544824" cy="2377440"/>
          </a:xfrm>
          <a:prstGeom prst="roundRect">
            <a:avLst>
              <a:gd name="adj" fmla="val 6923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96384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4596384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Подстанция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596384" y="3108960"/>
            <a:ext cx="29961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Узел, через который объект подключают к сети. Каждую подстанцию надо спроектировать, построить и принять.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095488" y="2103120"/>
            <a:ext cx="3544824" cy="2377440"/>
          </a:xfrm>
          <a:prstGeom prst="roundRect">
            <a:avLst>
              <a:gd name="adj" fmla="val 6923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69808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8369808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Подпись инженера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369808" y="3108960"/>
            <a:ext cx="29961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 закону проект подстанции подписывает лицензированный инженер. Без подписи сетевая компания проект не примет.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4846320"/>
            <a:ext cx="107259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Всё остальное — обычные слова: компания, клиент, проект, выручка.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· РЕШЕНИЕ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3152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Покупаем инженерную компанию — и даём её инженерам ИИ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/ 15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3544824" cy="2286000"/>
          </a:xfrm>
          <a:prstGeom prst="roundRect">
            <a:avLst>
              <a:gd name="adj" fmla="val 7200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ШАГ 1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Покупаем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108960"/>
            <a:ext cx="29961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Небольшую инженерную фирму с лицензией и клиентами — там, где строят больше всего: Персидский залив, Индия.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22064" y="2103120"/>
            <a:ext cx="3544824" cy="2286000"/>
          </a:xfrm>
          <a:prstGeom prst="roundRect">
            <a:avLst>
              <a:gd name="adj" fmla="val 7200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96384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ШАГ 2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4596384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Ускоряем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596384" y="3108960"/>
            <a:ext cx="29961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Наш ИИ делает расчёты и чертежи, инженер проверяет и подписывает. Тот же штат делает в полтора-два раза больше проектов.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095488" y="2103120"/>
            <a:ext cx="3544824" cy="2286000"/>
          </a:xfrm>
          <a:prstGeom prst="roundRect">
            <a:avLst>
              <a:gd name="adj" fmla="val 7200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69808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ШАГ 3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8369808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Повторяем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369808" y="3108960"/>
            <a:ext cx="29961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Вторая фирма, третья, пятая. Один ИИ на всех — и с каждым проектом он становится лучше.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4572000"/>
            <a:ext cx="107259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Почему покупаем, а не нанимаем: вместе с фирмой приходят клиенты, лицензии и репутация — этого не наймёшь. Почему это не сделает WSP: гиганты покупают тысячи инженеров разом, фирмы на сорок человек им не видны. Мы не заменяем инженеров — мы делаем так, чтобы их хватало.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623560"/>
            <a:ext cx="10725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046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Покупаем подпись. Ставим ИИ. Повторяем.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6035040"/>
            <a:ext cx="9445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A8E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Цель — вдвое, проверяем на первых проектах. В деньгах считаем осторожно: в полтора раза.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32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· КАК ЭТО РАБОТАЕТ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3152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Площадка на входе — одобренный проект на выходе, с первого раза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/ 15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3544824" cy="2194560"/>
          </a:xfrm>
          <a:prstGeom prst="roundRect">
            <a:avLst>
              <a:gd name="adj" fmla="val 7500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Заявка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108960"/>
            <a:ext cx="29961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Девелопер дата-центра или электростанции приходит с площадкой и нужной мощностью.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22064" y="2103120"/>
            <a:ext cx="3544824" cy="2194560"/>
          </a:xfrm>
          <a:prstGeom prst="roundRect">
            <a:avLst>
              <a:gd name="adj" fmla="val 7500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96384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4596384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Проект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596384" y="3108960"/>
            <a:ext cx="29961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ИИ считает схему и чертит подстанцию, инженер проверяет и подписывает.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095488" y="2103120"/>
            <a:ext cx="3544824" cy="2194560"/>
          </a:xfrm>
          <a:prstGeom prst="roundRect">
            <a:avLst>
              <a:gd name="adj" fmla="val 7500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69808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8369808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Одобрение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369808" y="3108960"/>
            <a:ext cx="29961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Сетевая компания принимает проект — можно строить. Клиент купил не бумагу, а сэкономленные месяцы.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4526280"/>
            <a:ext cx="1072591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Пять лет ожидания — это очередь, проверки сети, оборудование. Из всего этого клиент может ускорить деньгами только один кусок: проект и его согласование — обычно месяцы и два-три круга правок. Мы делаем этот кусок в полтора-два раза быстрее и с первого раза. Месяц простоя готового дата-центра стоит дороже всего проекта, поэтому клиент платит за срок.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· КТО ПЛАТИТ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3152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Наш клиент — каждый, кто стоит в очереди на подключение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/ 15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3544824" cy="2286000"/>
          </a:xfrm>
          <a:prstGeom prst="roundRect">
            <a:avLst>
              <a:gd name="adj" fmla="val 7200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КЛИЕНТ 1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Дата-центры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108960"/>
            <a:ext cx="29961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Самые нетерпеливые: у них уже куплены серверы. Покупают срок.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22064" y="2103120"/>
            <a:ext cx="3544824" cy="2286000"/>
          </a:xfrm>
          <a:prstGeom prst="roundRect">
            <a:avLst>
              <a:gd name="adj" fmla="val 7200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96384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КЛИЕНТ 2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4596384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Станции и накопители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596384" y="3108960"/>
            <a:ext cx="29961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Солнце, ветер, батареи — основная масса очереди. Десятки проектов у одного девелопера.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095488" y="2103120"/>
            <a:ext cx="3544824" cy="2286000"/>
          </a:xfrm>
          <a:prstGeom prst="roundRect">
            <a:avLst>
              <a:gd name="adj" fmla="val 7200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69808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КЛИЕНТ 3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8369808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Крупные подрядчики и сети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369808" y="3108960"/>
            <a:ext cx="29961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Им не хватает инженеров под собственные программы. Покупают наши часы оптом.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4617720"/>
            <a:ext cx="1072591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США проблему лучше всего измерили. Начинаем мы с Персидского залива и Индии: там строят больше, а инженеров не хватает так же — Саудовская Аравия законом требует 30% местных инженеров, и компании не знают, где их взять. Стоят инженеры по-разному: в Индии в несколько раз дешевле, чем в США. Для команды из России США и Европа — позже и через партнёров.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32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· БИЗНЕС-МОДЕЛЬ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3152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Та же фирма, те же люди — в полтора раза больше выручки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/ 15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5431536" cy="2286000"/>
          </a:xfrm>
          <a:prstGeom prst="roundRect">
            <a:avLst>
              <a:gd name="adj" fmla="val 7200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2331720"/>
            <a:ext cx="4791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ФИРМА ДО ПОКУПКИ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697480"/>
            <a:ext cx="4791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2,8 млн $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3566160"/>
            <a:ext cx="47914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выручки в год · 40 инженеров · маржа бюро без ИИ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08776" y="2103120"/>
            <a:ext cx="5431536" cy="2286000"/>
          </a:xfrm>
          <a:prstGeom prst="roundRect">
            <a:avLst>
              <a:gd name="adj" fmla="val 7200"/>
            </a:avLst>
          </a:prstGeom>
          <a:solidFill>
            <a:srgbClr val="2C3A1C"/>
          </a:solidFill>
          <a:ln w="12700">
            <a:solidFill>
              <a:srgbClr val="2C3A1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28816" y="2331720"/>
            <a:ext cx="4791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ТА ЖЕ ФИРМА С НАШИМ ИИ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6528816" y="2697480"/>
            <a:ext cx="4791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D5F7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4,2 млн $</a:t>
            </a:r>
            <a:endParaRPr lang="en-US" sz="4400" dirty="0"/>
          </a:p>
        </p:txBody>
      </p:sp>
      <p:sp>
        <p:nvSpPr>
          <p:cNvPr id="13" name="Text 11"/>
          <p:cNvSpPr txBox="1"/>
          <p:nvPr/>
        </p:nvSpPr>
        <p:spPr>
          <a:xfrm>
            <a:off x="6528816" y="3566160"/>
            <a:ext cx="47914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выручки в год · те же 40 инженеров · маржа 24% после оплаты ИИ-команды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4526280"/>
            <a:ext cx="1072591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Заказов у таких фирм больше, чем рук, — поэтому они и не могут нанять. Прирост 1,4 млн $ в год с тех же людей. Но ИИ-команда стоит 1,2 млн $ в год на всю группу: при одной фирме она съедает почти весь прирост, при пяти — обходится по 240 тысяч на фирму. Поэтому одна фирма — эксперимент, а бизнес — группа.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943600"/>
            <a:ext cx="9445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Базовый сценарий финмодели: рост выработки в полтора раза, цель — вдвое; покупка фирмы за годовую выручку. Финмодель с тремя сценариями прилагается.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· РЫНОК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3152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 инженеров, которые проектируют сети, уже платят миллиарды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/ 15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5431536" cy="2011680"/>
          </a:xfrm>
          <a:prstGeom prst="roundRect">
            <a:avLst>
              <a:gd name="adj" fmla="val 8182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2377440"/>
            <a:ext cx="4791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1,78 млрд $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3246120"/>
            <a:ext cx="47914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заплатила WSP, мировой инженерный гигант, за компанию из 4000 таких инженеров в 2024 году. Через год — ещё 3,3 млрд $ за следующую.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08776" y="2103120"/>
            <a:ext cx="5431536" cy="2011680"/>
          </a:xfrm>
          <a:prstGeom prst="roundRect">
            <a:avLst>
              <a:gd name="adj" fmla="val 8182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28816" y="2377440"/>
            <a:ext cx="4791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млрд $</a:t>
            </a:r>
            <a:endParaRPr lang="en-US" sz="4400" dirty="0"/>
          </a:p>
        </p:txBody>
      </p:sp>
      <p:sp>
        <p:nvSpPr>
          <p:cNvPr id="11" name="Text 9"/>
          <p:cNvSpPr txBox="1"/>
          <p:nvPr/>
        </p:nvSpPr>
        <p:spPr>
          <a:xfrm>
            <a:off x="6528816" y="3246120"/>
            <a:ext cx="47914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контрактов на сети и подстанции за один год выдала Саудовская Аравия. Около 3% таких контрактов — проектирование: порядка 450 млн $ в год в одной стране.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434840"/>
            <a:ext cx="107259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Мы собираем группу по цене около 70 тысяч долларов за инженера — покупая небольшие фирмы там, где инженеры есть. Такие группы стратеги покупают по 445 тысяч за инженера: WSP заплатила именно столько.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532120"/>
            <a:ext cx="10725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046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Разница между ценой входа и ценой выхода — и есть сделка.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32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· ПЛАН РАЗВИТИЯ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3152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Год 1 — первая фирма. Год 3 — пять фирм. Потом — продажа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 / 15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3544824" cy="2286000"/>
          </a:xfrm>
          <a:prstGeom prst="roundRect">
            <a:avLst>
              <a:gd name="adj" fmla="val 7200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ГОД 1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Первая фирма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108960"/>
            <a:ext cx="29961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ИИ работает на реальных проектах. Куплена первая компания на 20–50 инженеров. Проекты — вдвое быстрее.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22064" y="2103120"/>
            <a:ext cx="3544824" cy="2286000"/>
          </a:xfrm>
          <a:prstGeom prst="roundRect">
            <a:avLst>
              <a:gd name="adj" fmla="val 7200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96384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ГОДЫ 2–3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4596384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Пять фирм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596384" y="3108960"/>
            <a:ext cx="29961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 инженеров, один ИИ на всех, 20 млн $ выручки в год.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095488" y="2103120"/>
            <a:ext cx="3544824" cy="2286000"/>
          </a:xfrm>
          <a:prstGeom prst="roundRect">
            <a:avLst>
              <a:gd name="adj" fmla="val 7200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69808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ГОДЫ 4–5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8369808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Продажа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369808" y="3108960"/>
            <a:ext cx="29961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Группа на 500 инженеров: рост с 200 — на выручку группы и долг под неё, не из этого раунда. Покупатель — те, кто уже платит за инженеров миллиарды: WSP, Stantec, Cyient.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4617720"/>
            <a:ext cx="107259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Почему сейчас: гиганты только начали нанимать менеджеров по ИИ — Black &amp; Veatch открыл такую вакансию в августе 2026. ИИ будет у всех через год-два. Первый, кто соберёт группу с ИИ внутри, станет консолидатором отрасли.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669280"/>
            <a:ext cx="9445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Годы 2–5 — цели, не прогноз. Ориентиры масштаба — сделки-аналоги.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· КТО МЫ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3152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Океан Тех: исследуем ИИ и строим решения для бизнеса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/ 15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2601468" cy="1737360"/>
          </a:xfrm>
          <a:prstGeom prst="roundRect">
            <a:avLst>
              <a:gd name="adj" fmla="val 947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286000"/>
            <a:ext cx="20528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017520"/>
            <a:ext cx="20528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проектов реализовано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378708" y="2103120"/>
            <a:ext cx="2601468" cy="1737360"/>
          </a:xfrm>
          <a:prstGeom prst="roundRect">
            <a:avLst>
              <a:gd name="adj" fmla="val 947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653028" y="2286000"/>
            <a:ext cx="20528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3653028" y="3017520"/>
            <a:ext cx="20528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клиента из разных отраслей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208776" y="2103120"/>
            <a:ext cx="2601468" cy="1737360"/>
          </a:xfrm>
          <a:prstGeom prst="roundRect">
            <a:avLst>
              <a:gd name="adj" fmla="val 947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83096" y="2286000"/>
            <a:ext cx="20528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6483096" y="3017520"/>
            <a:ext cx="20528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человека в штате: исследователи, инженеры, продуктовые дизайнеры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9038844" y="2103120"/>
            <a:ext cx="2601468" cy="1737360"/>
          </a:xfrm>
          <a:prstGeom prst="roundRect">
            <a:avLst>
              <a:gd name="adj" fmla="val 947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313164" y="2286000"/>
            <a:ext cx="20528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4000" dirty="0"/>
          </a:p>
        </p:txBody>
      </p:sp>
      <p:sp>
        <p:nvSpPr>
          <p:cNvPr id="17" name="Text 15"/>
          <p:cNvSpPr txBox="1"/>
          <p:nvPr/>
        </p:nvSpPr>
        <p:spPr>
          <a:xfrm>
            <a:off x="9313164" y="3017520"/>
            <a:ext cx="20528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отраслей фокуса: финансы, медицина, производство, e-commerce и другие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4023360"/>
            <a:ext cx="1072591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Центр исследований </a:t>
            </a:r>
            <a:pPr indent="0" marL="0">
              <a:lnSpc>
                <a:spcPct val="110000"/>
              </a:lnSpc>
              <a:spcAft>
                <a:spcPts val="700"/>
              </a:spcAft>
              <a:buNone/>
            </a:pPr>
            <a:r>
              <a:rPr lang="en-US" sz="125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изучает поведение языковых моделей и агентов на реальных задачах бизнеса: 14 исследователей и ML-инженеров, база из 277 верифицированных кейсов ИИ. Прежде чем прийти с этой идеей, мы проверили и отбросили десять других.</a:t>
            </a:r>
            <a:endParaRPr lang="en-US" sz="1250" dirty="0"/>
          </a:p>
          <a:p>
            <a:pPr indent="0" marL="0">
              <a:lnSpc>
                <a:spcPct val="110000"/>
              </a:lnSpc>
              <a:spcAft>
                <a:spcPts val="700"/>
              </a:spcAft>
              <a:buNone/>
            </a:pPr>
            <a:r>
              <a:rPr lang="en-US" sz="125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Департамент разработки </a:t>
            </a:r>
            <a:pPr indent="0" marL="0">
              <a:lnSpc>
                <a:spcPct val="110000"/>
              </a:lnSpc>
              <a:spcAft>
                <a:spcPts val="700"/>
              </a:spcAft>
              <a:buNone/>
            </a:pPr>
            <a:r>
              <a:rPr lang="en-US" sz="125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строит и внедряет ИИ в сложных системах — от высоконагруженных сервисов до корпоративных внедрений. Собственный фреймворк сокращает сроки создания и интеграции решений на 59% (по данным компании).</a:t>
            </a:r>
            <a:endParaRPr lang="en-US" sz="1250" dirty="0"/>
          </a:p>
          <a:p>
            <a:pPr indent="0" marL="0">
              <a:lnSpc>
                <a:spcPct val="110000"/>
              </a:lnSpc>
              <a:spcAft>
                <a:spcPts val="700"/>
              </a:spcAft>
              <a:buNone/>
            </a:pPr>
            <a:r>
              <a:rPr lang="en-US" sz="125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 нас пишут </a:t>
            </a:r>
            <a:pPr indent="0" marL="0">
              <a:lnSpc>
                <a:spcPct val="110000"/>
              </a:lnSpc>
              <a:spcAft>
                <a:spcPts val="700"/>
              </a:spcAft>
              <a:buNone/>
            </a:pPr>
            <a:r>
              <a:rPr lang="en-US" sz="125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Inc., RTVI, TAdviser — методы, данные и разбор реальных внедрений.</a:t>
            </a:r>
            <a:endParaRPr lang="en-US" sz="1250" dirty="0"/>
          </a:p>
          <a:p>
            <a:pPr indent="0" marL="0">
              <a:lnSpc>
                <a:spcPct val="110000"/>
              </a:lnSpc>
              <a:spcAft>
                <a:spcPts val="700"/>
              </a:spcAft>
              <a:buNone/>
            </a:pPr>
            <a:r>
              <a:rPr lang="en-US" sz="125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Куда идёт раунд </a:t>
            </a:r>
            <a:pPr indent="0" marL="0">
              <a:lnSpc>
                <a:spcPct val="110000"/>
              </a:lnSpc>
              <a:spcAft>
                <a:spcPts val="700"/>
              </a:spcAft>
              <a:buNone/>
            </a:pPr>
            <a:r>
              <a:rPr lang="en-US" sz="125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новую международную компанию, которая владеет купленными фирмами. Океан Тех вносит ИИ, метод и команду.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 · КОМАНДА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3152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Три основателя и 60+ человек в штате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/ 15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3544824" cy="3794760"/>
          </a:xfrm>
          <a:prstGeom prst="roundRect">
            <a:avLst>
              <a:gd name="adj" fmla="val 4643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pic>
        <p:nvPicPr>
          <p:cNvPr id="7" name="Image 0" descr="/tmp/claude-0/-home-user/5ac64fc3-708b-5ba2-8575-a96a48f05f03/scratchpad/okean/penko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331720"/>
            <a:ext cx="1612087" cy="18745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22960" y="4343400"/>
            <a:ext cx="29961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Дмитрий Пеньков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4663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46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Генеральный директор, основатель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4983480"/>
            <a:ext cx="29961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Предприниматель с опытом в технологиях. Buckswood School (Англия), МИРБИС, экономический лицей МБИ им. А. Собчака, MBA при МГИМО.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322064" y="2103120"/>
            <a:ext cx="3544824" cy="3794760"/>
          </a:xfrm>
          <a:prstGeom prst="roundRect">
            <a:avLst>
              <a:gd name="adj" fmla="val 4643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pic>
        <p:nvPicPr>
          <p:cNvPr id="12" name="Image 1" descr="/tmp/claude-0/-home-user/5ac64fc3-708b-5ba2-8575-a96a48f05f03/scratchpad/okean/moroshi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6384" y="2331720"/>
            <a:ext cx="1612087" cy="187452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596384" y="4343400"/>
            <a:ext cx="29961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Константин Морошин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4596384" y="4663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46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Глава Центра исследований</a:t>
            </a:r>
            <a:endParaRPr lang="en-US" sz="1150" dirty="0"/>
          </a:p>
        </p:txBody>
      </p:sp>
      <p:sp>
        <p:nvSpPr>
          <p:cNvPr id="15" name="Text 11"/>
          <p:cNvSpPr txBox="1"/>
          <p:nvPr/>
        </p:nvSpPr>
        <p:spPr>
          <a:xfrm>
            <a:off x="4596384" y="4983480"/>
            <a:ext cx="29961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Исследователь UX в B2B ИТ. Проекты для МТС Ред, КРОК, Инностейдж, Сбера. Более 10 лет продаж ИТ в энтерпрайзе.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5488" y="2103120"/>
            <a:ext cx="3544824" cy="3794760"/>
          </a:xfrm>
          <a:prstGeom prst="roundRect">
            <a:avLst>
              <a:gd name="adj" fmla="val 4643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pic>
        <p:nvPicPr>
          <p:cNvPr id="17" name="Image 2" descr="/tmp/claude-0/-home-user/5ac64fc3-708b-5ba2-8575-a96a48f05f03/scratchpad/okean/kovalev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9808" y="2331720"/>
            <a:ext cx="1612087" cy="187452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369808" y="4343400"/>
            <a:ext cx="29961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Сергей Ковалёв</a:t>
            </a:r>
            <a:endParaRPr lang="en-US" sz="1500" dirty="0"/>
          </a:p>
        </p:txBody>
      </p:sp>
      <p:sp>
        <p:nvSpPr>
          <p:cNvPr id="19" name="Text 14"/>
          <p:cNvSpPr txBox="1"/>
          <p:nvPr/>
        </p:nvSpPr>
        <p:spPr>
          <a:xfrm>
            <a:off x="8369808" y="4663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46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Управляющий партнёр</a:t>
            </a:r>
            <a:endParaRPr lang="en-US" sz="1150" dirty="0"/>
          </a:p>
        </p:txBody>
      </p:sp>
      <p:sp>
        <p:nvSpPr>
          <p:cNvPr id="20" name="Text 15"/>
          <p:cNvSpPr txBox="1"/>
          <p:nvPr/>
        </p:nvSpPr>
        <p:spPr>
          <a:xfrm>
            <a:off x="8369808" y="4983480"/>
            <a:ext cx="29961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Предприниматель и стратег с обширным опытом в области искусственного интеллекта и Web3.</a:t>
            </a:r>
            <a:endParaRPr lang="en-US" sz="1050" dirty="0"/>
          </a:p>
        </p:txBody>
      </p:sp>
      <p:sp>
        <p:nvSpPr>
          <p:cNvPr id="21" name="Text 16"/>
          <p:cNvSpPr txBox="1"/>
          <p:nvPr/>
        </p:nvSpPr>
        <p:spPr>
          <a:xfrm>
            <a:off x="548640" y="6035040"/>
            <a:ext cx="9445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A8E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60+ человек в штате: исследователи, инженеры, продуктовые дизайнеры. Чего в команде пока нет и кого добавляем первым — инженер-партнёр с лицензией на целевом рынке.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· ЧТО МОЖЕТ ПОЙТИ НЕ ТАК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3152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Три риска — и что мы с ними делаем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/ 15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3544824" cy="2468880"/>
          </a:xfrm>
          <a:prstGeom prst="roundRect">
            <a:avLst>
              <a:gd name="adj" fmla="val 6667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РИСК 1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ИИ будет у всех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108960"/>
            <a:ext cx="299618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Через год-два такой ИИ появится у каждого. Поэтому наше преимущество — не в модели, а в купленных фирмах, их лицензиях и клиентах. Их бесплатно не раздашь.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22064" y="2103120"/>
            <a:ext cx="3544824" cy="2468880"/>
          </a:xfrm>
          <a:prstGeom prst="roundRect">
            <a:avLst>
              <a:gd name="adj" fmla="val 6667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96384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РИСК 2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4596384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Инженеры уйдут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596384" y="3108960"/>
            <a:ext cx="299618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Это бизнес на людях. Покупаем фирмы с отложенной выплатой основателям, а ИИ делает работу инженеров легче, а не заменяет их.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095488" y="2103120"/>
            <a:ext cx="3544824" cy="2468880"/>
          </a:xfrm>
          <a:prstGeom prst="roundRect">
            <a:avLst>
              <a:gd name="adj" fmla="val 6667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69808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РИСК 3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8369808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Происхождение команды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369808" y="3108960"/>
            <a:ext cx="299618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Команда из России: в США и Европе нас ждут проверки и ограничения. Поэтому стартуем там, где строят и куда пускают: Залив, Индия. Международная структура с первого дня.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484632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Четвёртый риск — что ИИ не даст даже полтора раза. Его снимает первый шаг: 250 тысяч и восемь недель до любых покупок.</a:t>
            </a:r>
            <a:endParaRPr lang="en-US" sz="14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32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ЧТО ПРОСИМ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3152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млн $: десять на ИИ и первую фирму, двадцать на ещё четыре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/ 15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3544824" cy="2103120"/>
          </a:xfrm>
          <a:prstGeom prst="roundRect">
            <a:avLst>
              <a:gd name="adj" fmla="val 7826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ТРАНШ 1 · 3 МЛН $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Полгода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108960"/>
            <a:ext cx="29961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ИИ на реальных проектах, первые оплаченные работы, выбрана фирма для покупки.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22064" y="2103120"/>
            <a:ext cx="3544824" cy="2103120"/>
          </a:xfrm>
          <a:prstGeom prst="roundRect">
            <a:avLst>
              <a:gd name="adj" fmla="val 7826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96384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ТРАНШ 2 · 7 МЛН $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4596384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Первая фирма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596384" y="3108960"/>
            <a:ext cx="29961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Покупка, интеграция ИИ. Выручка фирмы растёт в полтора раза при том же штате.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095488" y="2103120"/>
            <a:ext cx="3544824" cy="2103120"/>
          </a:xfrm>
          <a:prstGeom prst="roundRect">
            <a:avLst>
              <a:gd name="adj" fmla="val 7826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69808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ТРАНШ 3 · 20 МЛН $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8369808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Ещё четыре фирмы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369808" y="3108960"/>
            <a:ext cx="29961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Каждая приходит с клиентами и выручкой. 200 инженеров и 20 млн $ в год к концу третьего года.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4434840"/>
            <a:ext cx="1072591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Куда идут деньги: 14 млн — пять фирм по цене годовой выручки; 3,6 млн — ИИ-команда на три года; 2 млн — сделки и юристы; остальное — запас на случай, если фирмы стоят дороже. Первый шаг внутри первого транша — 250 тысяч и восемь недель: два пилотных проекта. Порог, ниже которого не идём дальше, — полтора раза; цель — два. Инвестор получает долю в компании, которая владеет всеми фирмами; условия раунда обсуждаем отдельно.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715000"/>
            <a:ext cx="10725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D5F7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Двадцать из тридцати миллионов — не в сжигание, а в покупку готовой выручки.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612648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Константин Морошин · Океан Тех · sales@okeantech.ru · okeantech.ru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ПРИЛОЖЕНИЕ · ЕСЛИ СПРОСЯТ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3152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ещё умеет та же компания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/ 15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2601468" cy="2651760"/>
          </a:xfrm>
          <a:prstGeom prst="roundRect">
            <a:avLst>
              <a:gd name="adj" fmla="val 6327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331720"/>
            <a:ext cx="20528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ОПЦИОН 1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651760"/>
            <a:ext cx="20528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Роботы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108960"/>
            <a:ext cx="20528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Роботы-инспекторы на подстанциях, которые мы спроектировали. Китайская сетевая компания State Grid покупает 8500 роботов в год; поставщик — DEEP Robotics. Годы 3–5.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3378708" y="2103120"/>
            <a:ext cx="2601468" cy="2651760"/>
          </a:xfrm>
          <a:prstGeom prst="roundRect">
            <a:avLst>
              <a:gd name="adj" fmla="val 6327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53028" y="2331720"/>
            <a:ext cx="20528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ОПЦИОН 2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3653028" y="2651760"/>
            <a:ext cx="20528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Стройка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653028" y="3108960"/>
            <a:ext cx="20528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Инженер, который проектировал, сопровождает стройку и приёмку: ещё 15–35% к гонорару с того же проекта.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208776" y="2103120"/>
            <a:ext cx="2601468" cy="2651760"/>
          </a:xfrm>
          <a:prstGeom prst="roundRect">
            <a:avLst>
              <a:gd name="adj" fmla="val 6327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83096" y="2331720"/>
            <a:ext cx="20528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ОПЦИОН 3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6483096" y="2651760"/>
            <a:ext cx="20528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Обучение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83096" y="3108960"/>
            <a:ext cx="20528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Обучение инженеров под квоты: Саудовская Аравия требует 30% граждан на инженерных позициях. Наш ИИ быстро доводит выпускника до рабочего инженера.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9038844" y="2103120"/>
            <a:ext cx="2601468" cy="2651760"/>
          </a:xfrm>
          <a:prstGeom prst="roundRect">
            <a:avLst>
              <a:gd name="adj" fmla="val 6327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313164" y="2331720"/>
            <a:ext cx="20528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ОПЦИОН 4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9313164" y="2651760"/>
            <a:ext cx="20528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Данные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9313164" y="3108960"/>
            <a:ext cx="20528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База данных о подключениях: сотни проектов в год — данные, которых нет ни у кого. Enverus купил Pearl Street именно за такие данные.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5029200"/>
            <a:ext cx="9445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A8E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выручку раунда заложено только проектирование. Остальное вводим по одному и только после измерения.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ПРИЛОЖЕНИЕ · ИСТОЧНИКИ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3152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Откуда цифры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/ 15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03120"/>
            <a:ext cx="11091672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лет / 61 месяц; 2061 ГВт — LBNL, Queued Up: 2026 Edition.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89% работодателей — DOE, U.S. Energy &amp; Employment Report 2025. Вакансия 6–9 мес. — IEEE Spectrum, 10.2025.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1,78 млрд $ / 4000 сотрудников — WSP → POWER Engineers, пресс-релиз, 10.2024. 3,3 млрд $ — WSP → TRC, ENR.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млрд $ контрактов КСА за 2025 — trade.gov. Около 100 подстанций в год — отчётность Saudi Electricity 2025–2026.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445 тыс. $ за инженера — 1,78 млрд $ / 4000; 70 тыс. $ — допущение финмодели (покупка за годовую выручку, 60–80 тыс. $ на инженера).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2,8 → 4,2 млн $, маржа 24% — финмодель, базовый сценарий (рост выработки ×1,5); доля инжиниринга ≈3% CAPEX — MISO Transmission Cost Estimation Guide.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8500 роботов — Caixin, SCMP (план State Grid на 2026); DEEP Robotics — проспект IPO. Стадия строительства 15–35% — ACEC-BC, WA OFM.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 саудизации — HRSD КСА № 103105 от 26.01.2025. Enverus → Pearl Street — 03.2025.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ИИ-команда 1,2 млн $ в год; раунд: 14 млн (5 × 2,8) + 3,6 млн (ИИ, 3 года) + 2 млн (сделки) ≈ 21 млн, остальное — запас — финмодель, roll-up на 30 млн $.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450 млн $ в год — оценка: 3% от 15 млрд $. 30% местных инженеров — постановление HRSD КСА № 103105.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Годы 2–5, 200 и 500 инженеров, 20 млн $ — цели, не прогноз.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2026-09-02T12:38:32Z</dcterms:created>
  <dcterms:modified xsi:type="dcterms:W3CDTF">2026-09-02T12:38:32Z</dcterms:modified>
</cp:coreProperties>
</file>